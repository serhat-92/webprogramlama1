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C33"/>
        </a:solidFill>
        <a:effectLst/>
      </p:bgPr>
    </p:bg>
    <p:spTree>
      <p:nvGrpSpPr>
        <p:cNvPr id="1" name=""/>
        <p:cNvGrpSpPr/>
        <p:nvPr/>
      </p:nvGrpSpPr>
      <p:grpSpPr/>
      <p:sp>
        <p:nvSpPr>
          <p:cNvPr id="2" name="TextBox 1"/>
          <p:cNvSpPr txBox="1"/>
          <p:nvPr/>
        </p:nvSpPr>
        <p:spPr>
          <a:xfrm>
            <a:off x="822960" y="658368"/>
            <a:ext cx="9144000" cy="365760"/>
          </a:xfrm>
          <a:prstGeom prst="rect">
            <a:avLst/>
          </a:prstGeom>
          <a:noFill/>
        </p:spPr>
        <p:txBody>
          <a:bodyPr wrap="square" lIns="0" rIns="0" tIns="0">
            <a:spAutoFit/>
          </a:bodyPr>
          <a:lstStyle/>
          <a:p>
            <a:pPr>
              <a:spcAft>
                <a:spcPts val="1000"/>
              </a:spcAft>
              <a:defRPr sz="1500" b="1">
                <a:solidFill>
                  <a:srgbClr val="EBB74D"/>
                </a:solidFill>
                <a:latin typeface="Aptos"/>
              </a:defRPr>
            </a:pPr>
            <a:r>
              <a:t>FAZ 1</a:t>
            </a:r>
          </a:p>
        </p:txBody>
      </p:sp>
      <p:sp>
        <p:nvSpPr>
          <p:cNvPr id="3" name="TextBox 2"/>
          <p:cNvSpPr txBox="1"/>
          <p:nvPr/>
        </p:nvSpPr>
        <p:spPr>
          <a:xfrm>
            <a:off x="822960" y="1481328"/>
            <a:ext cx="10424160" cy="2011680"/>
          </a:xfrm>
          <a:prstGeom prst="rect">
            <a:avLst/>
          </a:prstGeom>
          <a:noFill/>
        </p:spPr>
        <p:txBody>
          <a:bodyPr wrap="square" lIns="0" rIns="0" tIns="0">
            <a:spAutoFit/>
          </a:bodyPr>
          <a:lstStyle/>
          <a:p>
            <a:pPr>
              <a:spcAft>
                <a:spcPts val="1000"/>
              </a:spcAft>
              <a:defRPr sz="4400" b="1">
                <a:solidFill>
                  <a:srgbClr val="F8FAFD"/>
                </a:solidFill>
                <a:latin typeface="Aptos"/>
              </a:defRPr>
            </a:pPr>
            <a:r>
              <a:t>Environment Setup</a:t>
            </a:r>
          </a:p>
          <a:p>
            <a:pPr>
              <a:spcAft>
                <a:spcPts val="1000"/>
              </a:spcAft>
              <a:defRPr sz="4400" b="1">
                <a:solidFill>
                  <a:srgbClr val="F8FAFD"/>
                </a:solidFill>
                <a:latin typeface="Aptos"/>
              </a:defRPr>
            </a:pPr>
            <a:r>
              <a:t>Your First Website</a:t>
            </a:r>
          </a:p>
        </p:txBody>
      </p:sp>
      <p:sp>
        <p:nvSpPr>
          <p:cNvPr id="4" name="TextBox 3"/>
          <p:cNvSpPr txBox="1"/>
          <p:nvPr/>
        </p:nvSpPr>
        <p:spPr>
          <a:xfrm>
            <a:off x="859536" y="3977639"/>
            <a:ext cx="9966960" cy="1097280"/>
          </a:xfrm>
          <a:prstGeom prst="rect">
            <a:avLst/>
          </a:prstGeom>
          <a:noFill/>
        </p:spPr>
        <p:txBody>
          <a:bodyPr wrap="square" lIns="0" rIns="0" tIns="0">
            <a:spAutoFit/>
          </a:bodyPr>
          <a:lstStyle/>
          <a:p>
            <a:pPr>
              <a:spcAft>
                <a:spcPts val="1000"/>
              </a:spcAft>
              <a:defRPr sz="2300" b="0">
                <a:solidFill>
                  <a:srgbClr val="F8FAFD"/>
                </a:solidFill>
                <a:latin typeface="Aptos"/>
              </a:defRPr>
            </a:pPr>
            <a:r>
              <a:t>Geliştirme araçlarından tarayıcı motoruna ve yayına</a:t>
            </a:r>
          </a:p>
        </p:txBody>
      </p:sp>
      <p:sp>
        <p:nvSpPr>
          <p:cNvPr id="5" name="TextBox 4"/>
          <p:cNvSpPr txBox="1"/>
          <p:nvPr/>
        </p:nvSpPr>
        <p:spPr>
          <a:xfrm>
            <a:off x="859536" y="6245352"/>
            <a:ext cx="10058400" cy="274320"/>
          </a:xfrm>
          <a:prstGeom prst="rect">
            <a:avLst/>
          </a:prstGeom>
          <a:noFill/>
        </p:spPr>
        <p:txBody>
          <a:bodyPr wrap="square" lIns="0" rIns="0" tIns="0">
            <a:spAutoFit/>
          </a:bodyPr>
          <a:lstStyle/>
          <a:p>
            <a:pPr>
              <a:spcAft>
                <a:spcPts val="1000"/>
              </a:spcAft>
              <a:defRPr sz="1300" b="1">
                <a:solidFill>
                  <a:srgbClr val="EBB74D"/>
                </a:solidFill>
                <a:latin typeface="Aptos"/>
              </a:defRPr>
            </a:pPr>
            <a:r>
              <a:t>SANCAK  /  Getting Started Modules</a:t>
            </a:r>
          </a:p>
        </p:txBody>
      </p:sp>
      <p:sp>
        <p:nvSpPr>
          <p:cNvPr id="6" name="TextBox 5"/>
          <p:cNvSpPr txBox="1"/>
          <p:nvPr/>
        </p:nvSpPr>
        <p:spPr>
          <a:xfrm>
            <a:off x="6095847" y="5486400"/>
            <a:ext cx="5608179" cy="891540"/>
          </a:xfrm>
          <a:prstGeom prst="rect">
            <a:avLst/>
          </a:prstGeom>
          <a:noFill/>
        </p:spPr>
        <p:txBody>
          <a:bodyPr wrap="square">
            <a:spAutoFit/>
          </a:bodyPr>
          <a:lstStyle/>
          <a:p>
            <a:r>
              <a:rPr sz="850" i="1">
                <a:solidFill>
                  <a:srgbClr val="B8C2D1"/>
                </a:solidFill>
                <a:latin typeface="Calibri"/>
              </a:rPr>
              <a:t>Uyarı: Bu içerik, SCÜ Şarkışla UBYO Web Programlama I dersi kapsamında tamamen eğitim amaçlı çevrilmiş ve derlenmiştir. Orijinal dokümantasyon kaynakları (MDN Web Docs vb.) kendi orijinal lisanslarına (CC-BY-SA, MIT) tabidir. Bu çalışmanın hiçbir ticari amacı yoktur.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58368" y="292608"/>
            <a:ext cx="10058400" cy="320040"/>
          </a:xfrm>
          <a:prstGeom prst="rect">
            <a:avLst/>
          </a:prstGeom>
          <a:noFill/>
        </p:spPr>
        <p:txBody>
          <a:bodyPr wrap="square" lIns="0" rIns="0" tIns="0">
            <a:spAutoFit/>
          </a:bodyPr>
          <a:lstStyle/>
          <a:p>
            <a:pPr>
              <a:spcAft>
                <a:spcPts val="1000"/>
              </a:spcAft>
              <a:defRPr sz="1300" b="1">
                <a:solidFill>
                  <a:srgbClr val="1B899B"/>
                </a:solidFill>
                <a:latin typeface="Aptos"/>
              </a:defRPr>
            </a:pPr>
            <a:r>
              <a:t>GİRİŞ</a:t>
            </a:r>
          </a:p>
        </p:txBody>
      </p:sp>
      <p:sp>
        <p:nvSpPr>
          <p:cNvPr id="3" name="TextBox 2"/>
          <p:cNvSpPr txBox="1"/>
          <p:nvPr/>
        </p:nvSpPr>
        <p:spPr>
          <a:xfrm>
            <a:off x="658368" y="795528"/>
            <a:ext cx="10881360" cy="822960"/>
          </a:xfrm>
          <a:prstGeom prst="rect">
            <a:avLst/>
          </a:prstGeom>
          <a:noFill/>
        </p:spPr>
        <p:txBody>
          <a:bodyPr wrap="square" lIns="0" rIns="0" tIns="0">
            <a:spAutoFit/>
          </a:bodyPr>
          <a:lstStyle/>
          <a:p>
            <a:pPr>
              <a:spcAft>
                <a:spcPts val="1000"/>
              </a:spcAft>
              <a:defRPr sz="3200" b="1">
                <a:solidFill>
                  <a:srgbClr val="0D1C33"/>
                </a:solidFill>
                <a:latin typeface="Aptos"/>
              </a:defRPr>
            </a:pPr>
            <a:r>
              <a:t>Sunumun yol haritası</a:t>
            </a:r>
          </a:p>
        </p:txBody>
      </p:sp>
      <p:sp>
        <p:nvSpPr>
          <p:cNvPr id="4" name="TextBox 3"/>
          <p:cNvSpPr txBox="1"/>
          <p:nvPr/>
        </p:nvSpPr>
        <p:spPr>
          <a:xfrm>
            <a:off x="841248" y="181051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Geliştirme ortamı</a:t>
            </a:r>
          </a:p>
        </p:txBody>
      </p:sp>
      <p:sp>
        <p:nvSpPr>
          <p:cNvPr id="5" name="TextBox 4"/>
          <p:cNvSpPr txBox="1"/>
          <p:nvPr/>
        </p:nvSpPr>
        <p:spPr>
          <a:xfrm>
            <a:off x="841248" y="2221992"/>
            <a:ext cx="10424160" cy="876300"/>
          </a:xfrm>
          <a:prstGeom prst="rect">
            <a:avLst/>
          </a:prstGeom>
          <a:noFill/>
        </p:spPr>
        <p:txBody>
          <a:bodyPr wrap="square" lIns="0" rIns="0" tIns="0">
            <a:spAutoFit/>
          </a:bodyPr>
          <a:lstStyle/>
          <a:p>
            <a:pPr>
              <a:defRPr sz="1600">
                <a:solidFill>
                  <a:srgbClr val="0D1C33"/>
                </a:solidFill>
                <a:latin typeface="Aptos"/>
              </a:defRPr>
            </a:pPr>
            <a:r>
              <a:t>Editör, dosyalar, yerel sunucu, terminal ve Git. Bu sıra, bir ziyaretçinin gördüğü sayfayı hazırlarken geliştiricinin hangi adımları geçtiğini gösterir.</a:t>
            </a:r>
          </a:p>
        </p:txBody>
      </p:sp>
      <p:sp>
        <p:nvSpPr>
          <p:cNvPr id="6" name="TextBox 5"/>
          <p:cNvSpPr txBox="1"/>
          <p:nvPr/>
        </p:nvSpPr>
        <p:spPr>
          <a:xfrm>
            <a:off x="841248" y="330403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Web’in çalışma yolu</a:t>
            </a:r>
          </a:p>
        </p:txBody>
      </p:sp>
      <p:sp>
        <p:nvSpPr>
          <p:cNvPr id="7" name="TextBox 6"/>
          <p:cNvSpPr txBox="1"/>
          <p:nvPr/>
        </p:nvSpPr>
        <p:spPr>
          <a:xfrm>
            <a:off x="841248" y="3715512"/>
            <a:ext cx="10424160" cy="876300"/>
          </a:xfrm>
          <a:prstGeom prst="rect">
            <a:avLst/>
          </a:prstGeom>
          <a:noFill/>
        </p:spPr>
        <p:txBody>
          <a:bodyPr wrap="square" lIns="0" rIns="0" tIns="0">
            <a:spAutoFit/>
          </a:bodyPr>
          <a:lstStyle/>
          <a:p>
            <a:pPr>
              <a:defRPr sz="1600">
                <a:solidFill>
                  <a:srgbClr val="0D1C33"/>
                </a:solidFill>
                <a:latin typeface="Aptos"/>
              </a:defRPr>
            </a:pPr>
            <a:r>
              <a:t>DNS, TCP, HTTP yanıtı ve tarayıcının çizim süreci. Bir sayfanın açılması yalnızca dosyayı çalıştırmak değildir; ağ ve tarayıcı birlikte çalışır.</a:t>
            </a:r>
          </a:p>
        </p:txBody>
      </p:sp>
      <p:sp>
        <p:nvSpPr>
          <p:cNvPr id="8" name="TextBox 7"/>
          <p:cNvSpPr txBox="1"/>
          <p:nvPr/>
        </p:nvSpPr>
        <p:spPr>
          <a:xfrm>
            <a:off x="841248" y="479755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İlk site ve yayın</a:t>
            </a:r>
          </a:p>
        </p:txBody>
      </p:sp>
      <p:sp>
        <p:nvSpPr>
          <p:cNvPr id="9" name="TextBox 8"/>
          <p:cNvSpPr txBox="1"/>
          <p:nvPr/>
        </p:nvSpPr>
        <p:spPr>
          <a:xfrm>
            <a:off x="841248" y="5209032"/>
            <a:ext cx="10424160" cy="876300"/>
          </a:xfrm>
          <a:prstGeom prst="rect">
            <a:avLst/>
          </a:prstGeom>
          <a:noFill/>
        </p:spPr>
        <p:txBody>
          <a:bodyPr wrap="square" lIns="0" rIns="0" tIns="0">
            <a:spAutoFit/>
          </a:bodyPr>
          <a:lstStyle/>
          <a:p>
            <a:pPr>
              <a:defRPr sz="1600">
                <a:solidFill>
                  <a:srgbClr val="0D1C33"/>
                </a:solidFill>
                <a:latin typeface="Aptos"/>
              </a:defRPr>
            </a:pPr>
            <a:r>
              <a:t>HTML, CSS, JavaScript ve sitenin internete açılması. Son slaytlarda bütün parçaları tek bir örnek üzerinden birleştireceğiz.</a:t>
            </a:r>
          </a:p>
        </p:txBody>
      </p:sp>
      <p:sp>
        <p:nvSpPr>
          <p:cNvPr id="10" name="TextBox 9"/>
          <p:cNvSpPr txBox="1"/>
          <p:nvPr/>
        </p:nvSpPr>
        <p:spPr>
          <a:xfrm>
            <a:off x="685800" y="6473952"/>
            <a:ext cx="91440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Sancak  /  Faz 1</a:t>
            </a:r>
          </a:p>
        </p:txBody>
      </p:sp>
      <p:sp>
        <p:nvSpPr>
          <p:cNvPr id="11" name="TextBox 10"/>
          <p:cNvSpPr txBox="1"/>
          <p:nvPr/>
        </p:nvSpPr>
        <p:spPr>
          <a:xfrm>
            <a:off x="11082528" y="6473952"/>
            <a:ext cx="4572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C33"/>
        </a:solidFill>
        <a:effectLst/>
      </p:bgPr>
    </p:bg>
    <p:spTree>
      <p:nvGrpSpPr>
        <p:cNvPr id="1" name=""/>
        <p:cNvGrpSpPr/>
        <p:nvPr/>
      </p:nvGrpSpPr>
      <p:grpSpPr/>
      <p:sp>
        <p:nvSpPr>
          <p:cNvPr id="2" name="TextBox 1"/>
          <p:cNvSpPr txBox="1"/>
          <p:nvPr/>
        </p:nvSpPr>
        <p:spPr>
          <a:xfrm>
            <a:off x="822960" y="658368"/>
            <a:ext cx="9144000" cy="365760"/>
          </a:xfrm>
          <a:prstGeom prst="rect">
            <a:avLst/>
          </a:prstGeom>
          <a:noFill/>
        </p:spPr>
        <p:txBody>
          <a:bodyPr wrap="square" lIns="0" rIns="0" tIns="0">
            <a:spAutoFit/>
          </a:bodyPr>
          <a:lstStyle/>
          <a:p>
            <a:pPr>
              <a:spcAft>
                <a:spcPts val="1000"/>
              </a:spcAft>
              <a:defRPr sz="1500" b="1">
                <a:solidFill>
                  <a:srgbClr val="EBB74D"/>
                </a:solidFill>
                <a:latin typeface="Aptos"/>
              </a:defRPr>
            </a:pPr>
            <a:r>
              <a:t>BÖLÜM 01</a:t>
            </a:r>
          </a:p>
        </p:txBody>
      </p:sp>
      <p:sp>
        <p:nvSpPr>
          <p:cNvPr id="3" name="TextBox 2"/>
          <p:cNvSpPr txBox="1"/>
          <p:nvPr/>
        </p:nvSpPr>
        <p:spPr>
          <a:xfrm>
            <a:off x="822960" y="1481328"/>
            <a:ext cx="10424160" cy="2011680"/>
          </a:xfrm>
          <a:prstGeom prst="rect">
            <a:avLst/>
          </a:prstGeom>
          <a:noFill/>
        </p:spPr>
        <p:txBody>
          <a:bodyPr wrap="square" lIns="0" rIns="0" tIns="0">
            <a:spAutoFit/>
          </a:bodyPr>
          <a:lstStyle/>
          <a:p>
            <a:pPr>
              <a:spcAft>
                <a:spcPts val="1000"/>
              </a:spcAft>
              <a:defRPr sz="4400" b="1">
                <a:solidFill>
                  <a:srgbClr val="F8FAFD"/>
                </a:solidFill>
                <a:latin typeface="Aptos"/>
              </a:defRPr>
            </a:pPr>
            <a:r>
              <a:t>01 / Geliştirme ortamı</a:t>
            </a:r>
          </a:p>
        </p:txBody>
      </p:sp>
      <p:sp>
        <p:nvSpPr>
          <p:cNvPr id="4" name="TextBox 3"/>
          <p:cNvSpPr txBox="1"/>
          <p:nvPr/>
        </p:nvSpPr>
        <p:spPr>
          <a:xfrm>
            <a:off x="859536" y="3977639"/>
            <a:ext cx="9966960" cy="1097280"/>
          </a:xfrm>
          <a:prstGeom prst="rect">
            <a:avLst/>
          </a:prstGeom>
          <a:noFill/>
        </p:spPr>
        <p:txBody>
          <a:bodyPr wrap="square" lIns="0" rIns="0" tIns="0">
            <a:spAutoFit/>
          </a:bodyPr>
          <a:lstStyle/>
          <a:p>
            <a:pPr>
              <a:spcAft>
                <a:spcPts val="1000"/>
              </a:spcAft>
              <a:defRPr sz="2300" b="0">
                <a:solidFill>
                  <a:srgbClr val="F8FAFD"/>
                </a:solidFill>
                <a:latin typeface="Aptos"/>
              </a:defRPr>
            </a:pPr>
            <a:r>
              <a:t>Kod yazmadan önce araçların ne yaptığını anlayalım.</a:t>
            </a:r>
          </a:p>
        </p:txBody>
      </p:sp>
      <p:sp>
        <p:nvSpPr>
          <p:cNvPr id="5" name="TextBox 4"/>
          <p:cNvSpPr txBox="1"/>
          <p:nvPr/>
        </p:nvSpPr>
        <p:spPr>
          <a:xfrm>
            <a:off x="859536" y="6245352"/>
            <a:ext cx="10058400" cy="274320"/>
          </a:xfrm>
          <a:prstGeom prst="rect">
            <a:avLst/>
          </a:prstGeom>
          <a:noFill/>
        </p:spPr>
        <p:txBody>
          <a:bodyPr wrap="square" lIns="0" rIns="0" tIns="0">
            <a:spAutoFit/>
          </a:bodyPr>
          <a:lstStyle/>
          <a:p>
            <a:pPr>
              <a:spcAft>
                <a:spcPts val="1000"/>
              </a:spcAft>
              <a:defRPr sz="1300" b="1">
                <a:solidFill>
                  <a:srgbClr val="EBB74D"/>
                </a:solidFill>
                <a:latin typeface="Aptos"/>
              </a:defRPr>
            </a:pPr>
            <a:r>
              <a:t>SANCAK  /  Getting Started Modules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58368" y="292608"/>
            <a:ext cx="10058400" cy="320040"/>
          </a:xfrm>
          <a:prstGeom prst="rect">
            <a:avLst/>
          </a:prstGeom>
          <a:noFill/>
        </p:spPr>
        <p:txBody>
          <a:bodyPr wrap="square" lIns="0" rIns="0" tIns="0">
            <a:spAutoFit/>
          </a:bodyPr>
          <a:lstStyle/>
          <a:p>
            <a:pPr>
              <a:spcAft>
                <a:spcPts val="1000"/>
              </a:spcAft>
              <a:defRPr sz="1300" b="1">
                <a:solidFill>
                  <a:srgbClr val="1B899B"/>
                </a:solidFill>
                <a:latin typeface="Aptos"/>
              </a:defRPr>
            </a:pPr>
            <a:r>
              <a:t>GELİŞTİRME ORTAMI</a:t>
            </a:r>
          </a:p>
        </p:txBody>
      </p:sp>
      <p:sp>
        <p:nvSpPr>
          <p:cNvPr id="3" name="TextBox 2"/>
          <p:cNvSpPr txBox="1"/>
          <p:nvPr/>
        </p:nvSpPr>
        <p:spPr>
          <a:xfrm>
            <a:off x="658368" y="795528"/>
            <a:ext cx="10881360" cy="822960"/>
          </a:xfrm>
          <a:prstGeom prst="rect">
            <a:avLst/>
          </a:prstGeom>
          <a:noFill/>
        </p:spPr>
        <p:txBody>
          <a:bodyPr wrap="square" lIns="0" rIns="0" tIns="0">
            <a:spAutoFit/>
          </a:bodyPr>
          <a:lstStyle/>
          <a:p>
            <a:pPr>
              <a:spcAft>
                <a:spcPts val="1000"/>
              </a:spcAft>
              <a:defRPr sz="3200" b="1">
                <a:solidFill>
                  <a:srgbClr val="0D1C33"/>
                </a:solidFill>
                <a:latin typeface="Aptos"/>
              </a:defRPr>
            </a:pPr>
            <a:r>
              <a:t>Neden Word yerine kod editörü?</a:t>
            </a:r>
          </a:p>
        </p:txBody>
      </p:sp>
      <p:sp>
        <p:nvSpPr>
          <p:cNvPr id="4" name="TextBox 3"/>
          <p:cNvSpPr txBox="1"/>
          <p:nvPr/>
        </p:nvSpPr>
        <p:spPr>
          <a:xfrm>
            <a:off x="841248" y="181051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Word belgeyi biçimlendirir</a:t>
            </a:r>
          </a:p>
        </p:txBody>
      </p:sp>
      <p:sp>
        <p:nvSpPr>
          <p:cNvPr id="5" name="TextBox 4"/>
          <p:cNvSpPr txBox="1"/>
          <p:nvPr/>
        </p:nvSpPr>
        <p:spPr>
          <a:xfrm>
            <a:off x="841248" y="2221992"/>
            <a:ext cx="10424160" cy="876300"/>
          </a:xfrm>
          <a:prstGeom prst="rect">
            <a:avLst/>
          </a:prstGeom>
          <a:noFill/>
        </p:spPr>
        <p:txBody>
          <a:bodyPr wrap="square" lIns="0" rIns="0" tIns="0">
            <a:spAutoFit/>
          </a:bodyPr>
          <a:lstStyle/>
          <a:p>
            <a:pPr>
              <a:defRPr sz="1600">
                <a:solidFill>
                  <a:srgbClr val="0D1C33"/>
                </a:solidFill>
                <a:latin typeface="Aptos"/>
              </a:defRPr>
            </a:pPr>
            <a:r>
              <a:t>Kalınlık, sayfa düzeni ve yazı tipi gibi bilgiler belgeye eklenir. Bu biçim, kaynak kodun beklediği düz metin yapısına uymaz. Örneğin Word'deki görünmez biçim bilgisi, HTML etiketinin doğrudan okunması gereken dosya yapısıyla karışır.</a:t>
            </a:r>
          </a:p>
        </p:txBody>
      </p:sp>
      <p:sp>
        <p:nvSpPr>
          <p:cNvPr id="6" name="TextBox 5"/>
          <p:cNvSpPr txBox="1"/>
          <p:nvPr/>
        </p:nvSpPr>
        <p:spPr>
          <a:xfrm>
            <a:off x="841248" y="309067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Kod dosyası düz metindir</a:t>
            </a:r>
          </a:p>
        </p:txBody>
      </p:sp>
      <p:sp>
        <p:nvSpPr>
          <p:cNvPr id="7" name="TextBox 6"/>
          <p:cNvSpPr txBox="1"/>
          <p:nvPr/>
        </p:nvSpPr>
        <p:spPr>
          <a:xfrm>
            <a:off x="841248" y="3502152"/>
            <a:ext cx="10424160" cy="876300"/>
          </a:xfrm>
          <a:prstGeom prst="rect">
            <a:avLst/>
          </a:prstGeom>
          <a:noFill/>
        </p:spPr>
        <p:txBody>
          <a:bodyPr wrap="square" lIns="0" rIns="0" tIns="0">
            <a:spAutoFit/>
          </a:bodyPr>
          <a:lstStyle/>
          <a:p>
            <a:pPr>
              <a:defRPr sz="1600">
                <a:solidFill>
                  <a:srgbClr val="0D1C33"/>
                </a:solidFill>
                <a:latin typeface="Aptos"/>
              </a:defRPr>
            </a:pPr>
            <a:r>
              <a:t>Bir .html dosyası etiketi, boşlukları ve karakterleri açıkça içerir. Editör bu metni kaydeder; tarayıcı da bu dosyayı okur. Bir etiket yazdığında &lt;h1&gt; karakterleri aynen dosyada kalmalıdır; ekranda görünen bir başlık biçimi olarak saklanmamalıdır.</a:t>
            </a:r>
          </a:p>
        </p:txBody>
      </p:sp>
      <p:sp>
        <p:nvSpPr>
          <p:cNvPr id="8" name="TextBox 7"/>
          <p:cNvSpPr txBox="1"/>
          <p:nvPr/>
        </p:nvSpPr>
        <p:spPr>
          <a:xfrm>
            <a:off x="841248" y="437083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Editörün katkısı</a:t>
            </a:r>
          </a:p>
        </p:txBody>
      </p:sp>
      <p:sp>
        <p:nvSpPr>
          <p:cNvPr id="9" name="TextBox 8"/>
          <p:cNvSpPr txBox="1"/>
          <p:nvPr/>
        </p:nvSpPr>
        <p:spPr>
          <a:xfrm>
            <a:off x="841248" y="4782312"/>
            <a:ext cx="10424160" cy="876300"/>
          </a:xfrm>
          <a:prstGeom prst="rect">
            <a:avLst/>
          </a:prstGeom>
          <a:noFill/>
        </p:spPr>
        <p:txBody>
          <a:bodyPr wrap="square" lIns="0" rIns="0" tIns="0">
            <a:spAutoFit/>
          </a:bodyPr>
          <a:lstStyle/>
          <a:p>
            <a:pPr>
              <a:defRPr sz="1600">
                <a:solidFill>
                  <a:srgbClr val="0D1C33"/>
                </a:solidFill>
                <a:latin typeface="Aptos"/>
              </a:defRPr>
            </a:pPr>
            <a:r>
              <a:t>Sözdizimi renklendirme, otomatik tamamlama, arama ve hata işaretleri geliştiricinin kodu takip etmesini kolaylaştırır. Bu araçlar kodu senin yerine çalıştırmaz; hata ihtimalini yazarken görmeni ve dosyaları hızlı bulmanı sağlar.</a:t>
            </a:r>
          </a:p>
        </p:txBody>
      </p:sp>
      <p:sp>
        <p:nvSpPr>
          <p:cNvPr id="10" name="TextBox 9"/>
          <p:cNvSpPr txBox="1"/>
          <p:nvPr/>
        </p:nvSpPr>
        <p:spPr>
          <a:xfrm>
            <a:off x="850392" y="5742432"/>
            <a:ext cx="10515600" cy="475488"/>
          </a:xfrm>
          <a:prstGeom prst="rect">
            <a:avLst/>
          </a:prstGeom>
          <a:noFill/>
        </p:spPr>
        <p:txBody>
          <a:bodyPr wrap="square" lIns="0" rIns="0" tIns="0">
            <a:spAutoFit/>
          </a:bodyPr>
          <a:lstStyle/>
          <a:p>
            <a:pPr>
              <a:spcAft>
                <a:spcPts val="1000"/>
              </a:spcAft>
              <a:defRPr sz="1500" b="1">
                <a:solidFill>
                  <a:srgbClr val="1B899B"/>
                </a:solidFill>
                <a:latin typeface="Aptos"/>
              </a:defRPr>
            </a:pPr>
            <a:r>
              <a:t>Örnek: index.html dosyasını gerçek kod dosyası olarak kaydet.</a:t>
            </a:r>
          </a:p>
        </p:txBody>
      </p:sp>
      <p:sp>
        <p:nvSpPr>
          <p:cNvPr id="11" name="TextBox 10"/>
          <p:cNvSpPr txBox="1"/>
          <p:nvPr/>
        </p:nvSpPr>
        <p:spPr>
          <a:xfrm>
            <a:off x="685800" y="6473952"/>
            <a:ext cx="91440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Sancak  /  Faz 1</a:t>
            </a:r>
          </a:p>
        </p:txBody>
      </p:sp>
      <p:sp>
        <p:nvSpPr>
          <p:cNvPr id="12" name="TextBox 11"/>
          <p:cNvSpPr txBox="1"/>
          <p:nvPr/>
        </p:nvSpPr>
        <p:spPr>
          <a:xfrm>
            <a:off x="11082528" y="6473952"/>
            <a:ext cx="4572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58368" y="292608"/>
            <a:ext cx="10058400" cy="320040"/>
          </a:xfrm>
          <a:prstGeom prst="rect">
            <a:avLst/>
          </a:prstGeom>
          <a:noFill/>
        </p:spPr>
        <p:txBody>
          <a:bodyPr wrap="square" lIns="0" rIns="0" tIns="0">
            <a:spAutoFit/>
          </a:bodyPr>
          <a:lstStyle/>
          <a:p>
            <a:pPr>
              <a:spcAft>
                <a:spcPts val="1000"/>
              </a:spcAft>
              <a:defRPr sz="1300" b="1">
                <a:solidFill>
                  <a:srgbClr val="1B899B"/>
                </a:solidFill>
                <a:latin typeface="Aptos"/>
              </a:defRPr>
            </a:pPr>
            <a:r>
              <a:t>GELİŞTİRME ORTAMI</a:t>
            </a:r>
          </a:p>
        </p:txBody>
      </p:sp>
      <p:sp>
        <p:nvSpPr>
          <p:cNvPr id="3" name="TextBox 2"/>
          <p:cNvSpPr txBox="1"/>
          <p:nvPr/>
        </p:nvSpPr>
        <p:spPr>
          <a:xfrm>
            <a:off x="658368" y="795528"/>
            <a:ext cx="10881360" cy="822960"/>
          </a:xfrm>
          <a:prstGeom prst="rect">
            <a:avLst/>
          </a:prstGeom>
          <a:noFill/>
        </p:spPr>
        <p:txBody>
          <a:bodyPr wrap="square" lIns="0" rIns="0" tIns="0">
            <a:spAutoFit/>
          </a:bodyPr>
          <a:lstStyle/>
          <a:p>
            <a:pPr>
              <a:spcAft>
                <a:spcPts val="1000"/>
              </a:spcAft>
              <a:defRPr sz="3200" b="1">
                <a:solidFill>
                  <a:srgbClr val="0D1C33"/>
                </a:solidFill>
                <a:latin typeface="Aptos"/>
              </a:defRPr>
            </a:pPr>
            <a:r>
              <a:t>Editör kaputun altında ne yapar?</a:t>
            </a:r>
          </a:p>
        </p:txBody>
      </p:sp>
      <p:sp>
        <p:nvSpPr>
          <p:cNvPr id="4" name="TextBox 3"/>
          <p:cNvSpPr txBox="1"/>
          <p:nvPr/>
        </p:nvSpPr>
        <p:spPr>
          <a:xfrm>
            <a:off x="841248" y="181051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Metin ve sözdizimi</a:t>
            </a:r>
          </a:p>
        </p:txBody>
      </p:sp>
      <p:sp>
        <p:nvSpPr>
          <p:cNvPr id="5" name="TextBox 4"/>
          <p:cNvSpPr txBox="1"/>
          <p:nvPr/>
        </p:nvSpPr>
        <p:spPr>
          <a:xfrm>
            <a:off x="841248" y="2221992"/>
            <a:ext cx="10424160" cy="876300"/>
          </a:xfrm>
          <a:prstGeom prst="rect">
            <a:avLst/>
          </a:prstGeom>
          <a:noFill/>
        </p:spPr>
        <p:txBody>
          <a:bodyPr wrap="square" lIns="0" rIns="0" tIns="0">
            <a:spAutoFit/>
          </a:bodyPr>
          <a:lstStyle/>
          <a:p>
            <a:pPr>
              <a:defRPr sz="1600">
                <a:solidFill>
                  <a:srgbClr val="0D1C33"/>
                </a:solidFill>
                <a:latin typeface="Aptos"/>
              </a:defRPr>
            </a:pPr>
            <a:r>
              <a:t>Editör dosyayı karakterler olarak açar. Dil desteği bu karakterleri etiket, anahtar sözcük ve ifade gibi parçalara ayırır. Örneğin açılmamış bir parantezin işaretlenmesi, kodun bu parçalara ayrıştırılması sayesinde mümkündür.</a:t>
            </a:r>
          </a:p>
        </p:txBody>
      </p:sp>
      <p:sp>
        <p:nvSpPr>
          <p:cNvPr id="6" name="TextBox 5"/>
          <p:cNvSpPr txBox="1"/>
          <p:nvPr/>
        </p:nvSpPr>
        <p:spPr>
          <a:xfrm>
            <a:off x="841248" y="330403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AST ne zaman oluşur?</a:t>
            </a:r>
          </a:p>
        </p:txBody>
      </p:sp>
      <p:sp>
        <p:nvSpPr>
          <p:cNvPr id="7" name="TextBox 6"/>
          <p:cNvSpPr txBox="1"/>
          <p:nvPr/>
        </p:nvSpPr>
        <p:spPr>
          <a:xfrm>
            <a:off x="841248" y="3715512"/>
            <a:ext cx="10424160" cy="876300"/>
          </a:xfrm>
          <a:prstGeom prst="rect">
            <a:avLst/>
          </a:prstGeom>
          <a:noFill/>
        </p:spPr>
        <p:txBody>
          <a:bodyPr wrap="square" lIns="0" rIns="0" tIns="0">
            <a:spAutoFit/>
          </a:bodyPr>
          <a:lstStyle/>
          <a:p>
            <a:pPr>
              <a:defRPr sz="1600">
                <a:solidFill>
                  <a:srgbClr val="0D1C33"/>
                </a:solidFill>
                <a:latin typeface="Aptos"/>
              </a:defRPr>
            </a:pPr>
            <a:r>
              <a:t>Bazı dil sunucuları ve eklentiler kodu ayrıştırıp Abstract Syntax Tree (AST) kurar. Her editör özelliği AST gerektirmez. Bu ağaç, iç içe ifadelerin birbirleriyle ilişkisini gösterir; 'bu değişken nerede tanımlandı?' gibi sorulara yanıt verir.</a:t>
            </a:r>
          </a:p>
        </p:txBody>
      </p:sp>
      <p:sp>
        <p:nvSpPr>
          <p:cNvPr id="8" name="TextBox 7"/>
          <p:cNvSpPr txBox="1"/>
          <p:nvPr/>
        </p:nvSpPr>
        <p:spPr>
          <a:xfrm>
            <a:off x="841248" y="479755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Eklentiler</a:t>
            </a:r>
          </a:p>
        </p:txBody>
      </p:sp>
      <p:sp>
        <p:nvSpPr>
          <p:cNvPr id="9" name="TextBox 8"/>
          <p:cNvSpPr txBox="1"/>
          <p:nvPr/>
        </p:nvSpPr>
        <p:spPr>
          <a:xfrm>
            <a:off x="841248" y="5209032"/>
            <a:ext cx="10424160" cy="876300"/>
          </a:xfrm>
          <a:prstGeom prst="rect">
            <a:avLst/>
          </a:prstGeom>
          <a:noFill/>
        </p:spPr>
        <p:txBody>
          <a:bodyPr wrap="square" lIns="0" rIns="0" tIns="0">
            <a:spAutoFit/>
          </a:bodyPr>
          <a:lstStyle/>
          <a:p>
            <a:pPr>
              <a:defRPr sz="1600">
                <a:solidFill>
                  <a:srgbClr val="0D1C33"/>
                </a:solidFill>
                <a:latin typeface="Aptos"/>
              </a:defRPr>
            </a:pPr>
            <a:r>
              <a:t>VS Code gibi editörlerde Extension Host eklentileri ayrı bir süreçte çalıştırabilir. Bu ayrım editörün yanıt verebilirliğine yardımcı olur; sınırsız RAM koruması sağlamaz. Çok ağır bir eklenti yine bellek tüketebilir; ayrı süreç kullanımı onu otomatik olarak güvenli veya hafif yapmaz.</a:t>
            </a:r>
          </a:p>
        </p:txBody>
      </p:sp>
      <p:sp>
        <p:nvSpPr>
          <p:cNvPr id="10" name="TextBox 9"/>
          <p:cNvSpPr txBox="1"/>
          <p:nvPr/>
        </p:nvSpPr>
        <p:spPr>
          <a:xfrm>
            <a:off x="685800" y="6473952"/>
            <a:ext cx="91440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Sancak  /  Faz 1</a:t>
            </a:r>
          </a:p>
        </p:txBody>
      </p:sp>
      <p:sp>
        <p:nvSpPr>
          <p:cNvPr id="11" name="TextBox 10"/>
          <p:cNvSpPr txBox="1"/>
          <p:nvPr/>
        </p:nvSpPr>
        <p:spPr>
          <a:xfrm>
            <a:off x="11082528" y="6473952"/>
            <a:ext cx="4572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58368" y="292608"/>
            <a:ext cx="10058400" cy="320040"/>
          </a:xfrm>
          <a:prstGeom prst="rect">
            <a:avLst/>
          </a:prstGeom>
          <a:noFill/>
        </p:spPr>
        <p:txBody>
          <a:bodyPr wrap="square" lIns="0" rIns="0" tIns="0">
            <a:spAutoFit/>
          </a:bodyPr>
          <a:lstStyle/>
          <a:p>
            <a:pPr>
              <a:spcAft>
                <a:spcPts val="1000"/>
              </a:spcAft>
              <a:defRPr sz="1300" b="1">
                <a:solidFill>
                  <a:srgbClr val="1B899B"/>
                </a:solidFill>
                <a:latin typeface="Aptos"/>
              </a:defRPr>
            </a:pPr>
            <a:r>
              <a:t>GELİŞTİRME ORTAMI</a:t>
            </a:r>
          </a:p>
        </p:txBody>
      </p:sp>
      <p:sp>
        <p:nvSpPr>
          <p:cNvPr id="3" name="TextBox 2"/>
          <p:cNvSpPr txBox="1"/>
          <p:nvPr/>
        </p:nvSpPr>
        <p:spPr>
          <a:xfrm>
            <a:off x="658368" y="795528"/>
            <a:ext cx="10881360" cy="822960"/>
          </a:xfrm>
          <a:prstGeom prst="rect">
            <a:avLst/>
          </a:prstGeom>
          <a:noFill/>
        </p:spPr>
        <p:txBody>
          <a:bodyPr wrap="square" lIns="0" rIns="0" tIns="0">
            <a:spAutoFit/>
          </a:bodyPr>
          <a:lstStyle/>
          <a:p>
            <a:pPr>
              <a:spcAft>
                <a:spcPts val="1000"/>
              </a:spcAft>
              <a:defRPr sz="3200" b="1">
                <a:solidFill>
                  <a:srgbClr val="0D1C33"/>
                </a:solidFill>
                <a:latin typeface="Aptos"/>
              </a:defRPr>
            </a:pPr>
            <a:r>
              <a:t>Dosyalar ve klasörler gerçekte nedir?</a:t>
            </a:r>
          </a:p>
        </p:txBody>
      </p:sp>
      <p:sp>
        <p:nvSpPr>
          <p:cNvPr id="4" name="TextBox 3"/>
          <p:cNvSpPr txBox="1"/>
          <p:nvPr/>
        </p:nvSpPr>
        <p:spPr>
          <a:xfrm>
            <a:off x="841248" y="181051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Klasör bir eşlemedir</a:t>
            </a:r>
          </a:p>
        </p:txBody>
      </p:sp>
      <p:sp>
        <p:nvSpPr>
          <p:cNvPr id="5" name="TextBox 4"/>
          <p:cNvSpPr txBox="1"/>
          <p:nvPr/>
        </p:nvSpPr>
        <p:spPr>
          <a:xfrm>
            <a:off x="841248" y="2221992"/>
            <a:ext cx="10424160" cy="876300"/>
          </a:xfrm>
          <a:prstGeom prst="rect">
            <a:avLst/>
          </a:prstGeom>
          <a:noFill/>
        </p:spPr>
        <p:txBody>
          <a:bodyPr wrap="square" lIns="0" rIns="0" tIns="0">
            <a:spAutoFit/>
          </a:bodyPr>
          <a:lstStyle/>
          <a:p>
            <a:pPr>
              <a:defRPr sz="1600">
                <a:solidFill>
                  <a:srgbClr val="0D1C33"/>
                </a:solidFill>
                <a:latin typeface="Aptos"/>
              </a:defRPr>
            </a:pPr>
            <a:r>
              <a:t>Dosya sistemi klasörde adları ilgili dosya kayıtlarına bağlar. İçerik, yalnızca klasör adının içinde saklanan bir metin değildir. Bu nedenle klasörü taşımak, dosyanın adını değiştirmek ve içeriğini değiştirmek farklı dosya sistemi işlemleridir.</a:t>
            </a:r>
          </a:p>
        </p:txBody>
      </p:sp>
      <p:sp>
        <p:nvSpPr>
          <p:cNvPr id="6" name="TextBox 5"/>
          <p:cNvSpPr txBox="1"/>
          <p:nvPr/>
        </p:nvSpPr>
        <p:spPr>
          <a:xfrm>
            <a:off x="841248" y="330403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Inode örneği</a:t>
            </a:r>
          </a:p>
        </p:txBody>
      </p:sp>
      <p:sp>
        <p:nvSpPr>
          <p:cNvPr id="7" name="TextBox 6"/>
          <p:cNvSpPr txBox="1"/>
          <p:nvPr/>
        </p:nvSpPr>
        <p:spPr>
          <a:xfrm>
            <a:off x="841248" y="3715512"/>
            <a:ext cx="10424160" cy="876300"/>
          </a:xfrm>
          <a:prstGeom prst="rect">
            <a:avLst/>
          </a:prstGeom>
          <a:noFill/>
        </p:spPr>
        <p:txBody>
          <a:bodyPr wrap="square" lIns="0" rIns="0" tIns="0">
            <a:spAutoFit/>
          </a:bodyPr>
          <a:lstStyle/>
          <a:p>
            <a:pPr>
              <a:defRPr sz="1600">
                <a:solidFill>
                  <a:srgbClr val="0D1C33"/>
                </a:solidFill>
                <a:latin typeface="Aptos"/>
              </a:defRPr>
            </a:pPr>
            <a:r>
              <a:t>Linux ext4'te inode dosyanın boyutu, izinleri ve veri bloklarına ilişkin bilgileri tutar. Klasör girdisi dosya adını inode numarasıyla ilişkilendirir. Inode bir RAM adresi değildir; diskteki dosya sisteminin kullandığı bir kayıttır ve gerektiğinde belleğe alınır.</a:t>
            </a:r>
          </a:p>
        </p:txBody>
      </p:sp>
      <p:sp>
        <p:nvSpPr>
          <p:cNvPr id="8" name="TextBox 7"/>
          <p:cNvSpPr txBox="1"/>
          <p:nvPr/>
        </p:nvSpPr>
        <p:spPr>
          <a:xfrm>
            <a:off x="841248" y="479755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Proje düzeni</a:t>
            </a:r>
          </a:p>
        </p:txBody>
      </p:sp>
      <p:sp>
        <p:nvSpPr>
          <p:cNvPr id="9" name="TextBox 8"/>
          <p:cNvSpPr txBox="1"/>
          <p:nvPr/>
        </p:nvSpPr>
        <p:spPr>
          <a:xfrm>
            <a:off x="841248" y="5209032"/>
            <a:ext cx="10424160" cy="876300"/>
          </a:xfrm>
          <a:prstGeom prst="rect">
            <a:avLst/>
          </a:prstGeom>
          <a:noFill/>
        </p:spPr>
        <p:txBody>
          <a:bodyPr wrap="square" lIns="0" rIns="0" tIns="0">
            <a:spAutoFit/>
          </a:bodyPr>
          <a:lstStyle/>
          <a:p>
            <a:pPr>
              <a:defRPr sz="1600">
                <a:solidFill>
                  <a:srgbClr val="0D1C33"/>
                </a:solidFill>
                <a:latin typeface="Aptos"/>
              </a:defRPr>
            </a:pPr>
            <a:r>
              <a:t>index.html, styles/style.css ve images/logo.png gibi anlaşılır bir yapı bağlantı hatalarını azaltır. Örneğin HTML içindeki styles/style.css yolu klasör yapısında gerçekten o dosyaya karşılık gelmelidir.</a:t>
            </a:r>
          </a:p>
        </p:txBody>
      </p:sp>
      <p:sp>
        <p:nvSpPr>
          <p:cNvPr id="10" name="TextBox 9"/>
          <p:cNvSpPr txBox="1"/>
          <p:nvPr/>
        </p:nvSpPr>
        <p:spPr>
          <a:xfrm>
            <a:off x="685800" y="6473952"/>
            <a:ext cx="91440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Sancak  /  Faz 1</a:t>
            </a:r>
          </a:p>
        </p:txBody>
      </p:sp>
      <p:sp>
        <p:nvSpPr>
          <p:cNvPr id="11" name="TextBox 10"/>
          <p:cNvSpPr txBox="1"/>
          <p:nvPr/>
        </p:nvSpPr>
        <p:spPr>
          <a:xfrm>
            <a:off x="11082528" y="6473952"/>
            <a:ext cx="4572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58368" y="292608"/>
            <a:ext cx="10058400" cy="320040"/>
          </a:xfrm>
          <a:prstGeom prst="rect">
            <a:avLst/>
          </a:prstGeom>
          <a:noFill/>
        </p:spPr>
        <p:txBody>
          <a:bodyPr wrap="square" lIns="0" rIns="0" tIns="0">
            <a:spAutoFit/>
          </a:bodyPr>
          <a:lstStyle/>
          <a:p>
            <a:pPr>
              <a:spcAft>
                <a:spcPts val="1000"/>
              </a:spcAft>
              <a:defRPr sz="1300" b="1">
                <a:solidFill>
                  <a:srgbClr val="1B899B"/>
                </a:solidFill>
                <a:latin typeface="Aptos"/>
              </a:defRPr>
            </a:pPr>
            <a:r>
              <a:t>GELİŞTİRME ORTAMI</a:t>
            </a:r>
          </a:p>
        </p:txBody>
      </p:sp>
      <p:sp>
        <p:nvSpPr>
          <p:cNvPr id="3" name="TextBox 2"/>
          <p:cNvSpPr txBox="1"/>
          <p:nvPr/>
        </p:nvSpPr>
        <p:spPr>
          <a:xfrm>
            <a:off x="658368" y="795528"/>
            <a:ext cx="10881360" cy="822960"/>
          </a:xfrm>
          <a:prstGeom prst="rect">
            <a:avLst/>
          </a:prstGeom>
          <a:noFill/>
        </p:spPr>
        <p:txBody>
          <a:bodyPr wrap="square" lIns="0" rIns="0" tIns="0">
            <a:spAutoFit/>
          </a:bodyPr>
          <a:lstStyle/>
          <a:p>
            <a:pPr>
              <a:spcAft>
                <a:spcPts val="1000"/>
              </a:spcAft>
              <a:defRPr sz="3200" b="1">
                <a:solidFill>
                  <a:srgbClr val="0D1C33"/>
                </a:solidFill>
                <a:latin typeface="Aptos"/>
              </a:defRPr>
            </a:pPr>
            <a:r>
              <a:t>Dosya adları neden önemlidir?</a:t>
            </a:r>
          </a:p>
        </p:txBody>
      </p:sp>
      <p:sp>
        <p:nvSpPr>
          <p:cNvPr id="4" name="TextBox 3"/>
          <p:cNvSpPr txBox="1"/>
          <p:nvPr/>
        </p:nvSpPr>
        <p:spPr>
          <a:xfrm>
            <a:off x="841248" y="181051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Boşluk ve URL</a:t>
            </a:r>
          </a:p>
        </p:txBody>
      </p:sp>
      <p:sp>
        <p:nvSpPr>
          <p:cNvPr id="5" name="TextBox 4"/>
          <p:cNvSpPr txBox="1"/>
          <p:nvPr/>
        </p:nvSpPr>
        <p:spPr>
          <a:xfrm>
            <a:off x="841248" y="2221992"/>
            <a:ext cx="10424160" cy="876300"/>
          </a:xfrm>
          <a:prstGeom prst="rect">
            <a:avLst/>
          </a:prstGeom>
          <a:noFill/>
        </p:spPr>
        <p:txBody>
          <a:bodyPr wrap="square" lIns="0" rIns="0" tIns="0">
            <a:spAutoFit/>
          </a:bodyPr>
          <a:lstStyle/>
          <a:p>
            <a:pPr>
              <a:defRPr sz="1600">
                <a:solidFill>
                  <a:srgbClr val="0D1C33"/>
                </a:solidFill>
                <a:latin typeface="Aptos"/>
              </a:defRPr>
            </a:pPr>
            <a:r>
              <a:t>Boşluk URL içinde genellikle %20 olarak kodlanır. Bu tek başına hata değildir; yanlış yazılan yol dosyanın bulunamamasına neden olur. Örneğin 'ekip fotoğrafı.png' adres çubuğunda 'ekip%20fotoğrafı.png' biçiminde görünebilir; kodlama normaldir.</a:t>
            </a:r>
          </a:p>
        </p:txBody>
      </p:sp>
      <p:sp>
        <p:nvSpPr>
          <p:cNvPr id="6" name="TextBox 5"/>
          <p:cNvSpPr txBox="1"/>
          <p:nvPr/>
        </p:nvSpPr>
        <p:spPr>
          <a:xfrm>
            <a:off x="841248" y="330403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Büyük ve küçük harf</a:t>
            </a:r>
          </a:p>
        </p:txBody>
      </p:sp>
      <p:sp>
        <p:nvSpPr>
          <p:cNvPr id="7" name="TextBox 6"/>
          <p:cNvSpPr txBox="1"/>
          <p:nvPr/>
        </p:nvSpPr>
        <p:spPr>
          <a:xfrm>
            <a:off x="841248" y="3715512"/>
            <a:ext cx="10424160" cy="876300"/>
          </a:xfrm>
          <a:prstGeom prst="rect">
            <a:avLst/>
          </a:prstGeom>
          <a:noFill/>
        </p:spPr>
        <p:txBody>
          <a:bodyPr wrap="square" lIns="0" rIns="0" tIns="0">
            <a:spAutoFit/>
          </a:bodyPr>
          <a:lstStyle/>
          <a:p>
            <a:pPr>
              <a:defRPr sz="1600">
                <a:solidFill>
                  <a:srgbClr val="0D1C33"/>
                </a:solidFill>
                <a:latin typeface="Aptos"/>
              </a:defRPr>
            </a:pPr>
            <a:r>
              <a:t>Windows'taki yaygın NTFS kullanımında dosya adları çoğunlukla harfe duyarsızdır. Linux ext4 ise genellikle Logo.png ile logo.png adlarını farklı kabul eder. Kodda images/Logo.png yazıp sunucuda images/logo.png tutarsan yerelde çalışan görsel canlı sitede kaybolabilir.</a:t>
            </a:r>
          </a:p>
        </p:txBody>
      </p:sp>
      <p:sp>
        <p:nvSpPr>
          <p:cNvPr id="8" name="TextBox 7"/>
          <p:cNvSpPr txBox="1"/>
          <p:nvPr/>
        </p:nvSpPr>
        <p:spPr>
          <a:xfrm>
            <a:off x="841248" y="479755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Pratik kural</a:t>
            </a:r>
          </a:p>
        </p:txBody>
      </p:sp>
      <p:sp>
        <p:nvSpPr>
          <p:cNvPr id="9" name="TextBox 8"/>
          <p:cNvSpPr txBox="1"/>
          <p:nvPr/>
        </p:nvSpPr>
        <p:spPr>
          <a:xfrm>
            <a:off x="841248" y="5209032"/>
            <a:ext cx="10424160" cy="876300"/>
          </a:xfrm>
          <a:prstGeom prst="rect">
            <a:avLst/>
          </a:prstGeom>
          <a:noFill/>
        </p:spPr>
        <p:txBody>
          <a:bodyPr wrap="square" lIns="0" rIns="0" tIns="0">
            <a:spAutoFit/>
          </a:bodyPr>
          <a:lstStyle/>
          <a:p>
            <a:pPr>
              <a:defRPr sz="1600">
                <a:solidFill>
                  <a:srgbClr val="0D1C33"/>
                </a:solidFill>
                <a:latin typeface="Aptos"/>
              </a:defRPr>
            </a:pPr>
            <a:r>
              <a:t>Küçük harf ve kısa çizgi kullan: ekip-fotografi.png. Dosya bağlantılarında adı birebir eşleştir. Türkçe karakterlerden kaçınmak da URL paylaşımı ve farklı araçlarla çalışma sırasında işleri sadeleştirir.</a:t>
            </a:r>
          </a:p>
        </p:txBody>
      </p:sp>
      <p:sp>
        <p:nvSpPr>
          <p:cNvPr id="10" name="TextBox 9"/>
          <p:cNvSpPr txBox="1"/>
          <p:nvPr/>
        </p:nvSpPr>
        <p:spPr>
          <a:xfrm>
            <a:off x="685800" y="6473952"/>
            <a:ext cx="91440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Sancak  /  Faz 1</a:t>
            </a:r>
          </a:p>
        </p:txBody>
      </p:sp>
      <p:sp>
        <p:nvSpPr>
          <p:cNvPr id="11" name="TextBox 10"/>
          <p:cNvSpPr txBox="1"/>
          <p:nvPr/>
        </p:nvSpPr>
        <p:spPr>
          <a:xfrm>
            <a:off x="11082528" y="6473952"/>
            <a:ext cx="4572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58368" y="292608"/>
            <a:ext cx="10058400" cy="320040"/>
          </a:xfrm>
          <a:prstGeom prst="rect">
            <a:avLst/>
          </a:prstGeom>
          <a:noFill/>
        </p:spPr>
        <p:txBody>
          <a:bodyPr wrap="square" lIns="0" rIns="0" tIns="0">
            <a:spAutoFit/>
          </a:bodyPr>
          <a:lstStyle/>
          <a:p>
            <a:pPr>
              <a:spcAft>
                <a:spcPts val="1000"/>
              </a:spcAft>
              <a:defRPr sz="1300" b="1">
                <a:solidFill>
                  <a:srgbClr val="1B899B"/>
                </a:solidFill>
                <a:latin typeface="Aptos"/>
              </a:defRPr>
            </a:pPr>
            <a:r>
              <a:t>GELİŞTİRME ORTAMI</a:t>
            </a:r>
          </a:p>
        </p:txBody>
      </p:sp>
      <p:sp>
        <p:nvSpPr>
          <p:cNvPr id="3" name="TextBox 2"/>
          <p:cNvSpPr txBox="1"/>
          <p:nvPr/>
        </p:nvSpPr>
        <p:spPr>
          <a:xfrm>
            <a:off x="658368" y="795528"/>
            <a:ext cx="10881360" cy="822960"/>
          </a:xfrm>
          <a:prstGeom prst="rect">
            <a:avLst/>
          </a:prstGeom>
          <a:noFill/>
        </p:spPr>
        <p:txBody>
          <a:bodyPr wrap="square" lIns="0" rIns="0" tIns="0">
            <a:spAutoFit/>
          </a:bodyPr>
          <a:lstStyle/>
          <a:p>
            <a:pPr>
              <a:spcAft>
                <a:spcPts val="1000"/>
              </a:spcAft>
              <a:defRPr sz="3200" b="1">
                <a:solidFill>
                  <a:srgbClr val="0D1C33"/>
                </a:solidFill>
                <a:latin typeface="Aptos"/>
              </a:defRPr>
            </a:pPr>
            <a:r>
              <a:t>file:// ile localhost arasındaki fark</a:t>
            </a:r>
          </a:p>
        </p:txBody>
      </p:sp>
      <p:sp>
        <p:nvSpPr>
          <p:cNvPr id="4" name="TextBox 3"/>
          <p:cNvSpPr txBox="1"/>
          <p:nvPr/>
        </p:nvSpPr>
        <p:spPr>
          <a:xfrm>
            <a:off x="841248" y="181051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file://</a:t>
            </a:r>
          </a:p>
        </p:txBody>
      </p:sp>
      <p:sp>
        <p:nvSpPr>
          <p:cNvPr id="5" name="TextBox 4"/>
          <p:cNvSpPr txBox="1"/>
          <p:nvPr/>
        </p:nvSpPr>
        <p:spPr>
          <a:xfrm>
            <a:off x="841248" y="2221992"/>
            <a:ext cx="10424160" cy="876300"/>
          </a:xfrm>
          <a:prstGeom prst="rect">
            <a:avLst/>
          </a:prstGeom>
          <a:noFill/>
        </p:spPr>
        <p:txBody>
          <a:bodyPr wrap="square" lIns="0" rIns="0" tIns="0">
            <a:spAutoFit/>
          </a:bodyPr>
          <a:lstStyle/>
          <a:p>
            <a:pPr>
              <a:defRPr sz="1600">
                <a:solidFill>
                  <a:srgbClr val="0D1C33"/>
                </a:solidFill>
                <a:latin typeface="Aptos"/>
              </a:defRPr>
            </a:pPr>
            <a:r>
              <a:t>Tarayıcı dosyayı doğrudan diskten açar. Köken ve güvenlik kuralları yüzünden fetch, modül veya başka dosyalara erişim beklenmedik biçimde kısıtlanabilir. Örneğin HTML'yi çift tıklayarak açınca adres file:/// ile başlar ve fetch('data.json') isteği engellenebilir.</a:t>
            </a:r>
          </a:p>
        </p:txBody>
      </p:sp>
      <p:sp>
        <p:nvSpPr>
          <p:cNvPr id="6" name="TextBox 5"/>
          <p:cNvSpPr txBox="1"/>
          <p:nvPr/>
        </p:nvSpPr>
        <p:spPr>
          <a:xfrm>
            <a:off x="841248" y="330403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Yerel sunucu</a:t>
            </a:r>
          </a:p>
        </p:txBody>
      </p:sp>
      <p:sp>
        <p:nvSpPr>
          <p:cNvPr id="7" name="TextBox 6"/>
          <p:cNvSpPr txBox="1"/>
          <p:nvPr/>
        </p:nvSpPr>
        <p:spPr>
          <a:xfrm>
            <a:off x="841248" y="3715512"/>
            <a:ext cx="10424160" cy="876300"/>
          </a:xfrm>
          <a:prstGeom prst="rect">
            <a:avLst/>
          </a:prstGeom>
          <a:noFill/>
        </p:spPr>
        <p:txBody>
          <a:bodyPr wrap="square" lIns="0" rIns="0" tIns="0">
            <a:spAutoFit/>
          </a:bodyPr>
          <a:lstStyle/>
          <a:p>
            <a:pPr>
              <a:defRPr sz="1600">
                <a:solidFill>
                  <a:srgbClr val="0D1C33"/>
                </a:solidFill>
                <a:latin typeface="Aptos"/>
              </a:defRPr>
            </a:pPr>
            <a:r>
              <a:t>http://localhost adresi bilgisayardaki HTTP sunucusuna gider. 127.0.0.1 loopback adresi trafiği aynı makineye geri yönlendirir. Yerel sunucu bir programdır; 127.0.0.1'e gelen isteği karşılar ve dosyayı HTTP yanıtı olarak gönderir.</a:t>
            </a:r>
          </a:p>
        </p:txBody>
      </p:sp>
      <p:sp>
        <p:nvSpPr>
          <p:cNvPr id="8" name="TextBox 7"/>
          <p:cNvSpPr txBox="1"/>
          <p:nvPr/>
        </p:nvSpPr>
        <p:spPr>
          <a:xfrm>
            <a:off x="841248" y="479755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Neden kullanılır?</a:t>
            </a:r>
          </a:p>
        </p:txBody>
      </p:sp>
      <p:sp>
        <p:nvSpPr>
          <p:cNvPr id="9" name="TextBox 8"/>
          <p:cNvSpPr txBox="1"/>
          <p:nvPr/>
        </p:nvSpPr>
        <p:spPr>
          <a:xfrm>
            <a:off x="841248" y="5209032"/>
            <a:ext cx="10424160" cy="876300"/>
          </a:xfrm>
          <a:prstGeom prst="rect">
            <a:avLst/>
          </a:prstGeom>
          <a:noFill/>
        </p:spPr>
        <p:txBody>
          <a:bodyPr wrap="square" lIns="0" rIns="0" tIns="0">
            <a:spAutoFit/>
          </a:bodyPr>
          <a:lstStyle/>
          <a:p>
            <a:pPr>
              <a:defRPr sz="1600">
                <a:solidFill>
                  <a:srgbClr val="0D1C33"/>
                </a:solidFill>
                <a:latin typeface="Aptos"/>
              </a:defRPr>
            </a:pPr>
            <a:r>
              <a:t>Siteyi HTTP üzerinden geliştirmek, yayındaki çalışma biçimine yaklaşır ve tarayıcı güvenlik kurallarını daha tutarlı test etmeyi sağlar. Tarayıcının same-origin ve CORS kurallarını geliştirme sırasında daha gerçekçi biçimde gözlemleyebilirsin.</a:t>
            </a:r>
          </a:p>
        </p:txBody>
      </p:sp>
      <p:sp>
        <p:nvSpPr>
          <p:cNvPr id="10" name="TextBox 9"/>
          <p:cNvSpPr txBox="1"/>
          <p:nvPr/>
        </p:nvSpPr>
        <p:spPr>
          <a:xfrm>
            <a:off x="685800" y="6473952"/>
            <a:ext cx="91440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Sancak  /  Faz 1</a:t>
            </a:r>
          </a:p>
        </p:txBody>
      </p:sp>
      <p:sp>
        <p:nvSpPr>
          <p:cNvPr id="11" name="TextBox 10"/>
          <p:cNvSpPr txBox="1"/>
          <p:nvPr/>
        </p:nvSpPr>
        <p:spPr>
          <a:xfrm>
            <a:off x="11082528" y="6473952"/>
            <a:ext cx="4572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58368" y="292608"/>
            <a:ext cx="10058400" cy="320040"/>
          </a:xfrm>
          <a:prstGeom prst="rect">
            <a:avLst/>
          </a:prstGeom>
          <a:noFill/>
        </p:spPr>
        <p:txBody>
          <a:bodyPr wrap="square" lIns="0" rIns="0" tIns="0">
            <a:spAutoFit/>
          </a:bodyPr>
          <a:lstStyle/>
          <a:p>
            <a:pPr>
              <a:spcAft>
                <a:spcPts val="1000"/>
              </a:spcAft>
              <a:defRPr sz="1300" b="1">
                <a:solidFill>
                  <a:srgbClr val="1B899B"/>
                </a:solidFill>
                <a:latin typeface="Aptos"/>
              </a:defRPr>
            </a:pPr>
            <a:r>
              <a:t>GELİŞTİRME ORTAMI</a:t>
            </a:r>
          </a:p>
        </p:txBody>
      </p:sp>
      <p:sp>
        <p:nvSpPr>
          <p:cNvPr id="3" name="TextBox 2"/>
          <p:cNvSpPr txBox="1"/>
          <p:nvPr/>
        </p:nvSpPr>
        <p:spPr>
          <a:xfrm>
            <a:off x="658368" y="795528"/>
            <a:ext cx="10881360" cy="822960"/>
          </a:xfrm>
          <a:prstGeom prst="rect">
            <a:avLst/>
          </a:prstGeom>
          <a:noFill/>
        </p:spPr>
        <p:txBody>
          <a:bodyPr wrap="square" lIns="0" rIns="0" tIns="0">
            <a:spAutoFit/>
          </a:bodyPr>
          <a:lstStyle/>
          <a:p>
            <a:pPr>
              <a:spcAft>
                <a:spcPts val="1000"/>
              </a:spcAft>
              <a:defRPr sz="3200" b="1">
                <a:solidFill>
                  <a:srgbClr val="0D1C33"/>
                </a:solidFill>
                <a:latin typeface="Aptos"/>
              </a:defRPr>
            </a:pPr>
            <a:r>
              <a:t>Terminal işletim sistemiyle nasıl konuşur?</a:t>
            </a:r>
          </a:p>
        </p:txBody>
      </p:sp>
      <p:sp>
        <p:nvSpPr>
          <p:cNvPr id="4" name="TextBox 3"/>
          <p:cNvSpPr txBox="1"/>
          <p:nvPr/>
        </p:nvSpPr>
        <p:spPr>
          <a:xfrm>
            <a:off x="841248" y="181051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Shell</a:t>
            </a:r>
          </a:p>
        </p:txBody>
      </p:sp>
      <p:sp>
        <p:nvSpPr>
          <p:cNvPr id="5" name="TextBox 4"/>
          <p:cNvSpPr txBox="1"/>
          <p:nvPr/>
        </p:nvSpPr>
        <p:spPr>
          <a:xfrm>
            <a:off x="841248" y="2221992"/>
            <a:ext cx="10424160" cy="876300"/>
          </a:xfrm>
          <a:prstGeom prst="rect">
            <a:avLst/>
          </a:prstGeom>
          <a:noFill/>
        </p:spPr>
        <p:txBody>
          <a:bodyPr wrap="square" lIns="0" rIns="0" tIns="0">
            <a:spAutoFit/>
          </a:bodyPr>
          <a:lstStyle/>
          <a:p>
            <a:pPr>
              <a:defRPr sz="1600">
                <a:solidFill>
                  <a:srgbClr val="0D1C33"/>
                </a:solidFill>
                <a:latin typeface="Aptos"/>
              </a:defRPr>
            </a:pPr>
            <a:r>
              <a:t>Komutu okur, değişkenleri ve yolları çözümler, ardından ilgili programı başlatır. Programlar işletim sistemi hizmetleri için sistem çağrıları kullanır. Örneğin 'git status' yazdığında shell git programını bulup başlatır; git de dosya bilgileri için işletim sisteminden hizmet alır.</a:t>
            </a:r>
          </a:p>
        </p:txBody>
      </p:sp>
      <p:sp>
        <p:nvSpPr>
          <p:cNvPr id="6" name="TextBox 5"/>
          <p:cNvSpPr txBox="1"/>
          <p:nvPr/>
        </p:nvSpPr>
        <p:spPr>
          <a:xfrm>
            <a:off x="841248" y="330403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stdin ve stdout</a:t>
            </a:r>
          </a:p>
        </p:txBody>
      </p:sp>
      <p:sp>
        <p:nvSpPr>
          <p:cNvPr id="7" name="TextBox 6"/>
          <p:cNvSpPr txBox="1"/>
          <p:nvPr/>
        </p:nvSpPr>
        <p:spPr>
          <a:xfrm>
            <a:off x="841248" y="3715512"/>
            <a:ext cx="10424160" cy="876300"/>
          </a:xfrm>
          <a:prstGeom prst="rect">
            <a:avLst/>
          </a:prstGeom>
          <a:noFill/>
        </p:spPr>
        <p:txBody>
          <a:bodyPr wrap="square" lIns="0" rIns="0" tIns="0">
            <a:spAutoFit/>
          </a:bodyPr>
          <a:lstStyle/>
          <a:p>
            <a:pPr>
              <a:defRPr sz="1600">
                <a:solidFill>
                  <a:srgbClr val="0D1C33"/>
                </a:solidFill>
                <a:latin typeface="Aptos"/>
              </a:defRPr>
            </a:pPr>
            <a:r>
              <a:t>Bir program girdiyi standart girişten alır, sonucu standart çıkışa yazar. Boru işareti (|) bir programın çıktısını diğerinin girdisine bağlar. 'cat dosya.txt | sort' komutunda ilk programın ürettiği satırlar ikinci programa giriş olur.</a:t>
            </a:r>
          </a:p>
        </p:txBody>
      </p:sp>
      <p:sp>
        <p:nvSpPr>
          <p:cNvPr id="8" name="TextBox 7"/>
          <p:cNvSpPr txBox="1"/>
          <p:nvPr/>
        </p:nvSpPr>
        <p:spPr>
          <a:xfrm>
            <a:off x="841248" y="479755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PATH</a:t>
            </a:r>
          </a:p>
        </p:txBody>
      </p:sp>
      <p:sp>
        <p:nvSpPr>
          <p:cNvPr id="9" name="TextBox 8"/>
          <p:cNvSpPr txBox="1"/>
          <p:nvPr/>
        </p:nvSpPr>
        <p:spPr>
          <a:xfrm>
            <a:off x="841248" y="5209032"/>
            <a:ext cx="10424160" cy="876300"/>
          </a:xfrm>
          <a:prstGeom prst="rect">
            <a:avLst/>
          </a:prstGeom>
          <a:noFill/>
        </p:spPr>
        <p:txBody>
          <a:bodyPr wrap="square" lIns="0" rIns="0" tIns="0">
            <a:spAutoFit/>
          </a:bodyPr>
          <a:lstStyle/>
          <a:p>
            <a:pPr>
              <a:defRPr sz="1600">
                <a:solidFill>
                  <a:srgbClr val="0D1C33"/>
                </a:solidFill>
                <a:latin typeface="Aptos"/>
              </a:defRPr>
            </a:pPr>
            <a:r>
              <a:t>Komut adını yazdığında shell PATH içindeki klasörlerde çalıştırılabilir programı arar. Bulamazsa 'command not found' benzeri hata alırsın. Git kurulu olsa bile PATH'te yer almıyorsa terminal komutu bulamaz; tam yolu veya PATH ayarını düzeltirsin.</a:t>
            </a:r>
          </a:p>
        </p:txBody>
      </p:sp>
      <p:sp>
        <p:nvSpPr>
          <p:cNvPr id="10" name="TextBox 9"/>
          <p:cNvSpPr txBox="1"/>
          <p:nvPr/>
        </p:nvSpPr>
        <p:spPr>
          <a:xfrm>
            <a:off x="685800" y="6473952"/>
            <a:ext cx="91440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Sancak  /  Faz 1</a:t>
            </a:r>
          </a:p>
        </p:txBody>
      </p:sp>
      <p:sp>
        <p:nvSpPr>
          <p:cNvPr id="11" name="TextBox 10"/>
          <p:cNvSpPr txBox="1"/>
          <p:nvPr/>
        </p:nvSpPr>
        <p:spPr>
          <a:xfrm>
            <a:off x="11082528" y="6473952"/>
            <a:ext cx="4572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58368" y="292608"/>
            <a:ext cx="10058400" cy="320040"/>
          </a:xfrm>
          <a:prstGeom prst="rect">
            <a:avLst/>
          </a:prstGeom>
          <a:noFill/>
        </p:spPr>
        <p:txBody>
          <a:bodyPr wrap="square" lIns="0" rIns="0" tIns="0">
            <a:spAutoFit/>
          </a:bodyPr>
          <a:lstStyle/>
          <a:p>
            <a:pPr>
              <a:spcAft>
                <a:spcPts val="1000"/>
              </a:spcAft>
              <a:defRPr sz="1300" b="1">
                <a:solidFill>
                  <a:srgbClr val="1B899B"/>
                </a:solidFill>
                <a:latin typeface="Aptos"/>
              </a:defRPr>
            </a:pPr>
            <a:r>
              <a:t>GELİŞTİRME ORTAMI</a:t>
            </a:r>
          </a:p>
        </p:txBody>
      </p:sp>
      <p:sp>
        <p:nvSpPr>
          <p:cNvPr id="3" name="TextBox 2"/>
          <p:cNvSpPr txBox="1"/>
          <p:nvPr/>
        </p:nvSpPr>
        <p:spPr>
          <a:xfrm>
            <a:off x="658368" y="795528"/>
            <a:ext cx="10881360" cy="822960"/>
          </a:xfrm>
          <a:prstGeom prst="rect">
            <a:avLst/>
          </a:prstGeom>
          <a:noFill/>
        </p:spPr>
        <p:txBody>
          <a:bodyPr wrap="square" lIns="0" rIns="0" tIns="0">
            <a:spAutoFit/>
          </a:bodyPr>
          <a:lstStyle/>
          <a:p>
            <a:pPr>
              <a:spcAft>
                <a:spcPts val="1000"/>
              </a:spcAft>
              <a:defRPr sz="3200" b="1">
                <a:solidFill>
                  <a:srgbClr val="0D1C33"/>
                </a:solidFill>
                <a:latin typeface="Aptos"/>
              </a:defRPr>
            </a:pPr>
            <a:r>
              <a:t>Git: Sürüm geçmişi nasıl kurulur?</a:t>
            </a:r>
          </a:p>
        </p:txBody>
      </p:sp>
      <p:sp>
        <p:nvSpPr>
          <p:cNvPr id="4" name="TextBox 3"/>
          <p:cNvSpPr txBox="1"/>
          <p:nvPr/>
        </p:nvSpPr>
        <p:spPr>
          <a:xfrm>
            <a:off x="841248" y="181051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.git dizini</a:t>
            </a:r>
          </a:p>
        </p:txBody>
      </p:sp>
      <p:sp>
        <p:nvSpPr>
          <p:cNvPr id="5" name="TextBox 4"/>
          <p:cNvSpPr txBox="1"/>
          <p:nvPr/>
        </p:nvSpPr>
        <p:spPr>
          <a:xfrm>
            <a:off x="841248" y="2221992"/>
            <a:ext cx="10424160" cy="876300"/>
          </a:xfrm>
          <a:prstGeom prst="rect">
            <a:avLst/>
          </a:prstGeom>
          <a:noFill/>
        </p:spPr>
        <p:txBody>
          <a:bodyPr wrap="square" lIns="0" rIns="0" tIns="0">
            <a:spAutoFit/>
          </a:bodyPr>
          <a:lstStyle/>
          <a:p>
            <a:pPr>
              <a:defRPr sz="1600">
                <a:solidFill>
                  <a:srgbClr val="0D1C33"/>
                </a:solidFill>
                <a:latin typeface="Aptos"/>
              </a:defRPr>
            </a:pPr>
            <a:r>
              <a:t>Depodaki nesneler, referanslar ve geçmiş bilgileri burada tutulur. Commit, belirli bir andaki proje durumuna ve önceki commitlere bağlanır. Bu yüzden .git klasörünü silmek çalışma dosyalarını bıraksa bile yerel geçmişi ve dal bilgilerini kaldırır.</a:t>
            </a:r>
          </a:p>
        </p:txBody>
      </p:sp>
      <p:sp>
        <p:nvSpPr>
          <p:cNvPr id="6" name="TextBox 5"/>
          <p:cNvSpPr txBox="1"/>
          <p:nvPr/>
        </p:nvSpPr>
        <p:spPr>
          <a:xfrm>
            <a:off x="841248" y="330403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Hash ve DAG</a:t>
            </a:r>
          </a:p>
        </p:txBody>
      </p:sp>
      <p:sp>
        <p:nvSpPr>
          <p:cNvPr id="7" name="TextBox 6"/>
          <p:cNvSpPr txBox="1"/>
          <p:nvPr/>
        </p:nvSpPr>
        <p:spPr>
          <a:xfrm>
            <a:off x="841248" y="3715512"/>
            <a:ext cx="10424160" cy="876300"/>
          </a:xfrm>
          <a:prstGeom prst="rect">
            <a:avLst/>
          </a:prstGeom>
          <a:noFill/>
        </p:spPr>
        <p:txBody>
          <a:bodyPr wrap="square" lIns="0" rIns="0" tIns="0">
            <a:spAutoFit/>
          </a:bodyPr>
          <a:lstStyle/>
          <a:p>
            <a:pPr>
              <a:defRPr sz="1600">
                <a:solidFill>
                  <a:srgbClr val="0D1C33"/>
                </a:solidFill>
                <a:latin typeface="Aptos"/>
              </a:defRPr>
            </a:pPr>
            <a:r>
              <a:t>Git nesneleri içerik karmalarıyla tanımlar; SHA-1 şifreleme değildir. Commit ilişkileri döngüsüz yönlü bir grafik (DAG) oluşturur. İçerik değişince karma değeri de değişir; hash, veriyi geri açabilen bir şifre değildir.</a:t>
            </a:r>
          </a:p>
        </p:txBody>
      </p:sp>
      <p:sp>
        <p:nvSpPr>
          <p:cNvPr id="8" name="TextBox 7"/>
          <p:cNvSpPr txBox="1"/>
          <p:nvPr/>
        </p:nvSpPr>
        <p:spPr>
          <a:xfrm>
            <a:off x="841248" y="479755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İş akışı</a:t>
            </a:r>
          </a:p>
        </p:txBody>
      </p:sp>
      <p:sp>
        <p:nvSpPr>
          <p:cNvPr id="9" name="TextBox 8"/>
          <p:cNvSpPr txBox="1"/>
          <p:nvPr/>
        </p:nvSpPr>
        <p:spPr>
          <a:xfrm>
            <a:off x="841248" y="5209032"/>
            <a:ext cx="10424160" cy="876300"/>
          </a:xfrm>
          <a:prstGeom prst="rect">
            <a:avLst/>
          </a:prstGeom>
          <a:noFill/>
        </p:spPr>
        <p:txBody>
          <a:bodyPr wrap="square" lIns="0" rIns="0" tIns="0">
            <a:spAutoFit/>
          </a:bodyPr>
          <a:lstStyle/>
          <a:p>
            <a:pPr>
              <a:defRPr sz="1600">
                <a:solidFill>
                  <a:srgbClr val="0D1C33"/>
                </a:solidFill>
                <a:latin typeface="Aptos"/>
              </a:defRPr>
            </a:pPr>
            <a:r>
              <a:t>Değişikliği ekle, commit oluştur, gerektiğinde önceki sürümü incele. Yeni depo biçimlerinde SHA-256 desteği de bulunur. Commit oluşturmak geçmişte bir durak kaydeder. Dal ise bu duraklardan birini gösteren hareketli bir işarettir.</a:t>
            </a:r>
          </a:p>
        </p:txBody>
      </p:sp>
      <p:sp>
        <p:nvSpPr>
          <p:cNvPr id="10" name="TextBox 9"/>
          <p:cNvSpPr txBox="1"/>
          <p:nvPr/>
        </p:nvSpPr>
        <p:spPr>
          <a:xfrm>
            <a:off x="685800" y="6473952"/>
            <a:ext cx="91440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Sancak  /  Faz 1</a:t>
            </a:r>
          </a:p>
        </p:txBody>
      </p:sp>
      <p:sp>
        <p:nvSpPr>
          <p:cNvPr id="11" name="TextBox 10"/>
          <p:cNvSpPr txBox="1"/>
          <p:nvPr/>
        </p:nvSpPr>
        <p:spPr>
          <a:xfrm>
            <a:off x="11082528" y="6473952"/>
            <a:ext cx="4572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C33"/>
        </a:solidFill>
        <a:effectLst/>
      </p:bgPr>
    </p:bg>
    <p:spTree>
      <p:nvGrpSpPr>
        <p:cNvPr id="1" name=""/>
        <p:cNvGrpSpPr/>
        <p:nvPr/>
      </p:nvGrpSpPr>
      <p:grpSpPr/>
      <p:sp>
        <p:nvSpPr>
          <p:cNvPr id="2" name="TextBox 1"/>
          <p:cNvSpPr txBox="1"/>
          <p:nvPr/>
        </p:nvSpPr>
        <p:spPr>
          <a:xfrm>
            <a:off x="822960" y="658368"/>
            <a:ext cx="9144000" cy="365760"/>
          </a:xfrm>
          <a:prstGeom prst="rect">
            <a:avLst/>
          </a:prstGeom>
          <a:noFill/>
        </p:spPr>
        <p:txBody>
          <a:bodyPr wrap="square" lIns="0" rIns="0" tIns="0">
            <a:spAutoFit/>
          </a:bodyPr>
          <a:lstStyle/>
          <a:p>
            <a:pPr>
              <a:spcAft>
                <a:spcPts val="1000"/>
              </a:spcAft>
              <a:defRPr sz="1500" b="1">
                <a:solidFill>
                  <a:srgbClr val="EBB74D"/>
                </a:solidFill>
                <a:latin typeface="Aptos"/>
              </a:defRPr>
            </a:pPr>
            <a:r>
              <a:t>BÖLÜM 02</a:t>
            </a:r>
          </a:p>
        </p:txBody>
      </p:sp>
      <p:sp>
        <p:nvSpPr>
          <p:cNvPr id="3" name="TextBox 2"/>
          <p:cNvSpPr txBox="1"/>
          <p:nvPr/>
        </p:nvSpPr>
        <p:spPr>
          <a:xfrm>
            <a:off x="822960" y="1481328"/>
            <a:ext cx="10424160" cy="2011680"/>
          </a:xfrm>
          <a:prstGeom prst="rect">
            <a:avLst/>
          </a:prstGeom>
          <a:noFill/>
        </p:spPr>
        <p:txBody>
          <a:bodyPr wrap="square" lIns="0" rIns="0" tIns="0">
            <a:spAutoFit/>
          </a:bodyPr>
          <a:lstStyle/>
          <a:p>
            <a:pPr>
              <a:spcAft>
                <a:spcPts val="1000"/>
              </a:spcAft>
              <a:defRPr sz="4400" b="1">
                <a:solidFill>
                  <a:srgbClr val="F8FAFD"/>
                </a:solidFill>
                <a:latin typeface="Aptos"/>
              </a:defRPr>
            </a:pPr>
            <a:r>
              <a:t>02 / Ağ iletişimi</a:t>
            </a:r>
          </a:p>
        </p:txBody>
      </p:sp>
      <p:sp>
        <p:nvSpPr>
          <p:cNvPr id="4" name="TextBox 3"/>
          <p:cNvSpPr txBox="1"/>
          <p:nvPr/>
        </p:nvSpPr>
        <p:spPr>
          <a:xfrm>
            <a:off x="859536" y="3977639"/>
            <a:ext cx="9966960" cy="1097280"/>
          </a:xfrm>
          <a:prstGeom prst="rect">
            <a:avLst/>
          </a:prstGeom>
          <a:noFill/>
        </p:spPr>
        <p:txBody>
          <a:bodyPr wrap="square" lIns="0" rIns="0" tIns="0">
            <a:spAutoFit/>
          </a:bodyPr>
          <a:lstStyle/>
          <a:p>
            <a:pPr>
              <a:spcAft>
                <a:spcPts val="1000"/>
              </a:spcAft>
              <a:defRPr sz="2300" b="0">
                <a:solidFill>
                  <a:srgbClr val="F8FAFD"/>
                </a:solidFill>
                <a:latin typeface="Aptos"/>
              </a:defRPr>
            </a:pPr>
            <a:r>
              <a:t>Bir adres yazıldığında dosyalar tarayıcıya nasıl ulaşır?</a:t>
            </a:r>
          </a:p>
        </p:txBody>
      </p:sp>
      <p:sp>
        <p:nvSpPr>
          <p:cNvPr id="5" name="TextBox 4"/>
          <p:cNvSpPr txBox="1"/>
          <p:nvPr/>
        </p:nvSpPr>
        <p:spPr>
          <a:xfrm>
            <a:off x="859536" y="6245352"/>
            <a:ext cx="10058400" cy="274320"/>
          </a:xfrm>
          <a:prstGeom prst="rect">
            <a:avLst/>
          </a:prstGeom>
          <a:noFill/>
        </p:spPr>
        <p:txBody>
          <a:bodyPr wrap="square" lIns="0" rIns="0" tIns="0">
            <a:spAutoFit/>
          </a:bodyPr>
          <a:lstStyle/>
          <a:p>
            <a:pPr>
              <a:spcAft>
                <a:spcPts val="1000"/>
              </a:spcAft>
              <a:defRPr sz="1300" b="1">
                <a:solidFill>
                  <a:srgbClr val="EBB74D"/>
                </a:solidFill>
                <a:latin typeface="Aptos"/>
              </a:defRPr>
            </a:pPr>
            <a:r>
              <a:t>SANCAK  /  Getting Started Modules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58368" y="292608"/>
            <a:ext cx="10058400" cy="320040"/>
          </a:xfrm>
          <a:prstGeom prst="rect">
            <a:avLst/>
          </a:prstGeom>
          <a:noFill/>
        </p:spPr>
        <p:txBody>
          <a:bodyPr wrap="square" lIns="0" rIns="0" tIns="0">
            <a:spAutoFit/>
          </a:bodyPr>
          <a:lstStyle/>
          <a:p>
            <a:pPr>
              <a:spcAft>
                <a:spcPts val="1000"/>
              </a:spcAft>
              <a:defRPr sz="1300" b="1">
                <a:solidFill>
                  <a:srgbClr val="1B899B"/>
                </a:solidFill>
                <a:latin typeface="Aptos"/>
              </a:defRPr>
            </a:pPr>
            <a:r>
              <a:t>AĞ İLETİŞİMİ</a:t>
            </a:r>
          </a:p>
        </p:txBody>
      </p:sp>
      <p:sp>
        <p:nvSpPr>
          <p:cNvPr id="3" name="TextBox 2"/>
          <p:cNvSpPr txBox="1"/>
          <p:nvPr/>
        </p:nvSpPr>
        <p:spPr>
          <a:xfrm>
            <a:off x="658368" y="795528"/>
            <a:ext cx="10881360" cy="822960"/>
          </a:xfrm>
          <a:prstGeom prst="rect">
            <a:avLst/>
          </a:prstGeom>
          <a:noFill/>
        </p:spPr>
        <p:txBody>
          <a:bodyPr wrap="square" lIns="0" rIns="0" tIns="0">
            <a:spAutoFit/>
          </a:bodyPr>
          <a:lstStyle/>
          <a:p>
            <a:pPr>
              <a:spcAft>
                <a:spcPts val="1000"/>
              </a:spcAft>
              <a:defRPr sz="3200" b="1">
                <a:solidFill>
                  <a:srgbClr val="0D1C33"/>
                </a:solidFill>
                <a:latin typeface="Aptos"/>
              </a:defRPr>
            </a:pPr>
            <a:r>
              <a:t>Adres yazınca ilk adım: DNS</a:t>
            </a:r>
          </a:p>
        </p:txBody>
      </p:sp>
      <p:sp>
        <p:nvSpPr>
          <p:cNvPr id="4" name="TextBox 3"/>
          <p:cNvSpPr txBox="1"/>
          <p:nvPr/>
        </p:nvSpPr>
        <p:spPr>
          <a:xfrm>
            <a:off x="841248" y="181051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Önbellek kontrolü</a:t>
            </a:r>
          </a:p>
        </p:txBody>
      </p:sp>
      <p:sp>
        <p:nvSpPr>
          <p:cNvPr id="5" name="TextBox 4"/>
          <p:cNvSpPr txBox="1"/>
          <p:nvPr/>
        </p:nvSpPr>
        <p:spPr>
          <a:xfrm>
            <a:off x="841248" y="2221992"/>
            <a:ext cx="10424160" cy="876300"/>
          </a:xfrm>
          <a:prstGeom prst="rect">
            <a:avLst/>
          </a:prstGeom>
          <a:noFill/>
        </p:spPr>
        <p:txBody>
          <a:bodyPr wrap="square" lIns="0" rIns="0" tIns="0">
            <a:spAutoFit/>
          </a:bodyPr>
          <a:lstStyle/>
          <a:p>
            <a:pPr>
              <a:defRPr sz="1600">
                <a:solidFill>
                  <a:srgbClr val="0D1C33"/>
                </a:solidFill>
                <a:latin typeface="Aptos"/>
              </a:defRPr>
            </a:pPr>
            <a:r>
              <a:t>Tarayıcı ve işletim sistemi yakın zamanda öğrenilen adresleri kullanabilir. Modem veya yerel çözümleyici de önbelleğe sahip olabilir. Örneğin demirdagsiber.com yazdığında tarayıcı önce bu ismin hangi IP adresine karşılık geldiğini öğrenmelidir.</a:t>
            </a:r>
          </a:p>
        </p:txBody>
      </p:sp>
      <p:sp>
        <p:nvSpPr>
          <p:cNvPr id="6" name="TextBox 5"/>
          <p:cNvSpPr txBox="1"/>
          <p:nvPr/>
        </p:nvSpPr>
        <p:spPr>
          <a:xfrm>
            <a:off x="841248" y="330403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Çözümleyici</a:t>
            </a:r>
          </a:p>
        </p:txBody>
      </p:sp>
      <p:sp>
        <p:nvSpPr>
          <p:cNvPr id="7" name="TextBox 6"/>
          <p:cNvSpPr txBox="1"/>
          <p:nvPr/>
        </p:nvSpPr>
        <p:spPr>
          <a:xfrm>
            <a:off x="841248" y="3715512"/>
            <a:ext cx="10424160" cy="876300"/>
          </a:xfrm>
          <a:prstGeom prst="rect">
            <a:avLst/>
          </a:prstGeom>
          <a:noFill/>
        </p:spPr>
        <p:txBody>
          <a:bodyPr wrap="square" lIns="0" rIns="0" tIns="0">
            <a:spAutoFit/>
          </a:bodyPr>
          <a:lstStyle/>
          <a:p>
            <a:pPr>
              <a:defRPr sz="1600">
                <a:solidFill>
                  <a:srgbClr val="0D1C33"/>
                </a:solidFill>
                <a:latin typeface="Aptos"/>
              </a:defRPr>
            </a:pPr>
            <a:r>
              <a:t>Yanıt yoksa yapılandırılmış DNS çözümleyicisi alan adını sorgular; gerektiğinde kök, üst düzey alan ve yetkili sunucular üzerinden yanıt bulunur. Kök sunucu doğrudan her sitenin IP'sini bilmez; sorguyu ilgili üst düzey alan ve yetkili kaynağa yönlendirir.</a:t>
            </a:r>
          </a:p>
        </p:txBody>
      </p:sp>
      <p:sp>
        <p:nvSpPr>
          <p:cNvPr id="8" name="TextBox 7"/>
          <p:cNvSpPr txBox="1"/>
          <p:nvPr/>
        </p:nvSpPr>
        <p:spPr>
          <a:xfrm>
            <a:off x="841248" y="479755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Sonuç</a:t>
            </a:r>
          </a:p>
        </p:txBody>
      </p:sp>
      <p:sp>
        <p:nvSpPr>
          <p:cNvPr id="9" name="TextBox 8"/>
          <p:cNvSpPr txBox="1"/>
          <p:nvPr/>
        </p:nvSpPr>
        <p:spPr>
          <a:xfrm>
            <a:off x="841248" y="5209032"/>
            <a:ext cx="10424160" cy="876300"/>
          </a:xfrm>
          <a:prstGeom prst="rect">
            <a:avLst/>
          </a:prstGeom>
          <a:noFill/>
        </p:spPr>
        <p:txBody>
          <a:bodyPr wrap="square" lIns="0" rIns="0" tIns="0">
            <a:spAutoFit/>
          </a:bodyPr>
          <a:lstStyle/>
          <a:p>
            <a:pPr>
              <a:defRPr sz="1600">
                <a:solidFill>
                  <a:srgbClr val="0D1C33"/>
                </a:solidFill>
                <a:latin typeface="Aptos"/>
              </a:defRPr>
            </a:pPr>
            <a:r>
              <a:t>Alan adının IP adresi elde edilir. Önceki yanıtın TTL süresi bitene kadar önbellekte kalması mümkündür. Alan adı değiştiğinde bazı ziyaretçilerin eski IP'yi görmesinin nedeni çoğu kez önbellekteki TTL'dir.</a:t>
            </a:r>
          </a:p>
        </p:txBody>
      </p:sp>
      <p:sp>
        <p:nvSpPr>
          <p:cNvPr id="10" name="TextBox 9"/>
          <p:cNvSpPr txBox="1"/>
          <p:nvPr/>
        </p:nvSpPr>
        <p:spPr>
          <a:xfrm>
            <a:off x="685800" y="6473952"/>
            <a:ext cx="91440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Sancak  /  Faz 1</a:t>
            </a:r>
          </a:p>
        </p:txBody>
      </p:sp>
      <p:sp>
        <p:nvSpPr>
          <p:cNvPr id="11" name="TextBox 10"/>
          <p:cNvSpPr txBox="1"/>
          <p:nvPr/>
        </p:nvSpPr>
        <p:spPr>
          <a:xfrm>
            <a:off x="11082528" y="6473952"/>
            <a:ext cx="4572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58368" y="292608"/>
            <a:ext cx="10058400" cy="320040"/>
          </a:xfrm>
          <a:prstGeom prst="rect">
            <a:avLst/>
          </a:prstGeom>
          <a:noFill/>
        </p:spPr>
        <p:txBody>
          <a:bodyPr wrap="square" lIns="0" rIns="0" tIns="0">
            <a:spAutoFit/>
          </a:bodyPr>
          <a:lstStyle/>
          <a:p>
            <a:pPr>
              <a:spcAft>
                <a:spcPts val="1000"/>
              </a:spcAft>
              <a:defRPr sz="1300" b="1">
                <a:solidFill>
                  <a:srgbClr val="1B899B"/>
                </a:solidFill>
                <a:latin typeface="Aptos"/>
              </a:defRPr>
            </a:pPr>
            <a:r>
              <a:t>AĞ İLETİŞİMİ</a:t>
            </a:r>
          </a:p>
        </p:txBody>
      </p:sp>
      <p:sp>
        <p:nvSpPr>
          <p:cNvPr id="3" name="TextBox 2"/>
          <p:cNvSpPr txBox="1"/>
          <p:nvPr/>
        </p:nvSpPr>
        <p:spPr>
          <a:xfrm>
            <a:off x="658368" y="795528"/>
            <a:ext cx="10881360" cy="822960"/>
          </a:xfrm>
          <a:prstGeom prst="rect">
            <a:avLst/>
          </a:prstGeom>
          <a:noFill/>
        </p:spPr>
        <p:txBody>
          <a:bodyPr wrap="square" lIns="0" rIns="0" tIns="0">
            <a:spAutoFit/>
          </a:bodyPr>
          <a:lstStyle/>
          <a:p>
            <a:pPr>
              <a:spcAft>
                <a:spcPts val="1000"/>
              </a:spcAft>
              <a:defRPr sz="3200" b="1">
                <a:solidFill>
                  <a:srgbClr val="0D1C33"/>
                </a:solidFill>
                <a:latin typeface="Aptos"/>
              </a:defRPr>
            </a:pPr>
            <a:r>
              <a:t>Bağlantı: TCP ve HTTPS</a:t>
            </a:r>
          </a:p>
        </p:txBody>
      </p:sp>
      <p:sp>
        <p:nvSpPr>
          <p:cNvPr id="4" name="TextBox 3"/>
          <p:cNvSpPr txBox="1"/>
          <p:nvPr/>
        </p:nvSpPr>
        <p:spPr>
          <a:xfrm>
            <a:off x="841248" y="181051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TCP üçlü el sıkışma</a:t>
            </a:r>
          </a:p>
        </p:txBody>
      </p:sp>
      <p:sp>
        <p:nvSpPr>
          <p:cNvPr id="5" name="TextBox 4"/>
          <p:cNvSpPr txBox="1"/>
          <p:nvPr/>
        </p:nvSpPr>
        <p:spPr>
          <a:xfrm>
            <a:off x="841248" y="2221992"/>
            <a:ext cx="10424160" cy="876300"/>
          </a:xfrm>
          <a:prstGeom prst="rect">
            <a:avLst/>
          </a:prstGeom>
          <a:noFill/>
        </p:spPr>
        <p:txBody>
          <a:bodyPr wrap="square" lIns="0" rIns="0" tIns="0">
            <a:spAutoFit/>
          </a:bodyPr>
          <a:lstStyle/>
          <a:p>
            <a:pPr>
              <a:defRPr sz="1600">
                <a:solidFill>
                  <a:srgbClr val="0D1C33"/>
                </a:solidFill>
                <a:latin typeface="Aptos"/>
              </a:defRPr>
            </a:pPr>
            <a:r>
              <a:t>TCP kullanıldığında istemci SYN, sunucu SYN-ACK, istemci ACK göndererek bağlantıyı kurar. SYN 'bağlanmak istiyorum', SYN-ACK 'hazırım', ACK ise 'yanıtını aldım' anlamına gelen üç adımdır.</a:t>
            </a:r>
          </a:p>
        </p:txBody>
      </p:sp>
      <p:sp>
        <p:nvSpPr>
          <p:cNvPr id="6" name="TextBox 5"/>
          <p:cNvSpPr txBox="1"/>
          <p:nvPr/>
        </p:nvSpPr>
        <p:spPr>
          <a:xfrm>
            <a:off x="841248" y="330403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TLS aşaması</a:t>
            </a:r>
          </a:p>
        </p:txBody>
      </p:sp>
      <p:sp>
        <p:nvSpPr>
          <p:cNvPr id="7" name="TextBox 6"/>
          <p:cNvSpPr txBox="1"/>
          <p:nvPr/>
        </p:nvSpPr>
        <p:spPr>
          <a:xfrm>
            <a:off x="841248" y="3715512"/>
            <a:ext cx="10424160" cy="876300"/>
          </a:xfrm>
          <a:prstGeom prst="rect">
            <a:avLst/>
          </a:prstGeom>
          <a:noFill/>
        </p:spPr>
        <p:txBody>
          <a:bodyPr wrap="square" lIns="0" rIns="0" tIns="0">
            <a:spAutoFit/>
          </a:bodyPr>
          <a:lstStyle/>
          <a:p>
            <a:pPr>
              <a:defRPr sz="1600">
                <a:solidFill>
                  <a:srgbClr val="0D1C33"/>
                </a:solidFill>
                <a:latin typeface="Aptos"/>
              </a:defRPr>
            </a:pPr>
            <a:r>
              <a:t>HTTPS için istemci ve sunucu ayrıca TLS üzerinden kimliği ve şifreli iletişim anahtarlarını kararlaştırır. Bu aşamadan sonra tarayıcı sertifikayı doğrular; doğru sunucuyla konuştuğundan emin olmayı hedefler.</a:t>
            </a:r>
          </a:p>
        </p:txBody>
      </p:sp>
      <p:sp>
        <p:nvSpPr>
          <p:cNvPr id="8" name="TextBox 7"/>
          <p:cNvSpPr txBox="1"/>
          <p:nvPr/>
        </p:nvSpPr>
        <p:spPr>
          <a:xfrm>
            <a:off x="841248" y="479755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HTTP isteği</a:t>
            </a:r>
          </a:p>
        </p:txBody>
      </p:sp>
      <p:sp>
        <p:nvSpPr>
          <p:cNvPr id="9" name="TextBox 8"/>
          <p:cNvSpPr txBox="1"/>
          <p:nvPr/>
        </p:nvSpPr>
        <p:spPr>
          <a:xfrm>
            <a:off x="841248" y="5209032"/>
            <a:ext cx="10424160" cy="876300"/>
          </a:xfrm>
          <a:prstGeom prst="rect">
            <a:avLst/>
          </a:prstGeom>
          <a:noFill/>
        </p:spPr>
        <p:txBody>
          <a:bodyPr wrap="square" lIns="0" rIns="0" tIns="0">
            <a:spAutoFit/>
          </a:bodyPr>
          <a:lstStyle/>
          <a:p>
            <a:pPr>
              <a:defRPr sz="1600">
                <a:solidFill>
                  <a:srgbClr val="0D1C33"/>
                </a:solidFill>
                <a:latin typeface="Aptos"/>
              </a:defRPr>
            </a:pPr>
            <a:r>
              <a:t>Tarayıcı / gibi bir yolu ister; sunucu durum kodu, başlıklar ve içerikle yanıt verir. HTTP/3 gibi bağlantılar TCP yerine QUIC kullanabilir. Dolayısıyla tüm modern web bağlantıları TCP kullanır demek doğru değildir; HTTP/3 önemli bir istisnadır.</a:t>
            </a:r>
          </a:p>
        </p:txBody>
      </p:sp>
      <p:sp>
        <p:nvSpPr>
          <p:cNvPr id="10" name="TextBox 9"/>
          <p:cNvSpPr txBox="1"/>
          <p:nvPr/>
        </p:nvSpPr>
        <p:spPr>
          <a:xfrm>
            <a:off x="685800" y="6473952"/>
            <a:ext cx="91440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Sancak  /  Faz 1</a:t>
            </a:r>
          </a:p>
        </p:txBody>
      </p:sp>
      <p:sp>
        <p:nvSpPr>
          <p:cNvPr id="11" name="TextBox 10"/>
          <p:cNvSpPr txBox="1"/>
          <p:nvPr/>
        </p:nvSpPr>
        <p:spPr>
          <a:xfrm>
            <a:off x="11082528" y="6473952"/>
            <a:ext cx="4572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58368" y="292608"/>
            <a:ext cx="10058400" cy="320040"/>
          </a:xfrm>
          <a:prstGeom prst="rect">
            <a:avLst/>
          </a:prstGeom>
          <a:noFill/>
        </p:spPr>
        <p:txBody>
          <a:bodyPr wrap="square" lIns="0" rIns="0" tIns="0">
            <a:spAutoFit/>
          </a:bodyPr>
          <a:lstStyle/>
          <a:p>
            <a:pPr>
              <a:spcAft>
                <a:spcPts val="1000"/>
              </a:spcAft>
              <a:defRPr sz="1300" b="1">
                <a:solidFill>
                  <a:srgbClr val="1B899B"/>
                </a:solidFill>
                <a:latin typeface="Aptos"/>
              </a:defRPr>
            </a:pPr>
            <a:r>
              <a:t>AĞ İLETİŞİMİ</a:t>
            </a:r>
          </a:p>
        </p:txBody>
      </p:sp>
      <p:sp>
        <p:nvSpPr>
          <p:cNvPr id="3" name="TextBox 2"/>
          <p:cNvSpPr txBox="1"/>
          <p:nvPr/>
        </p:nvSpPr>
        <p:spPr>
          <a:xfrm>
            <a:off x="658368" y="795528"/>
            <a:ext cx="10881360" cy="822960"/>
          </a:xfrm>
          <a:prstGeom prst="rect">
            <a:avLst/>
          </a:prstGeom>
          <a:noFill/>
        </p:spPr>
        <p:txBody>
          <a:bodyPr wrap="square" lIns="0" rIns="0" tIns="0">
            <a:spAutoFit/>
          </a:bodyPr>
          <a:lstStyle/>
          <a:p>
            <a:pPr>
              <a:spcAft>
                <a:spcPts val="1000"/>
              </a:spcAft>
              <a:defRPr sz="3200" b="1">
                <a:solidFill>
                  <a:srgbClr val="0D1C33"/>
                </a:solidFill>
                <a:latin typeface="Aptos"/>
              </a:defRPr>
            </a:pPr>
            <a:r>
              <a:t>Veri paketleri nasıl gelir?</a:t>
            </a:r>
          </a:p>
        </p:txBody>
      </p:sp>
      <p:sp>
        <p:nvSpPr>
          <p:cNvPr id="4" name="TextBox 3"/>
          <p:cNvSpPr txBox="1"/>
          <p:nvPr/>
        </p:nvSpPr>
        <p:spPr>
          <a:xfrm>
            <a:off x="841248" y="181051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Parçalara ayrılma</a:t>
            </a:r>
          </a:p>
        </p:txBody>
      </p:sp>
      <p:sp>
        <p:nvSpPr>
          <p:cNvPr id="5" name="TextBox 4"/>
          <p:cNvSpPr txBox="1"/>
          <p:nvPr/>
        </p:nvSpPr>
        <p:spPr>
          <a:xfrm>
            <a:off x="841248" y="2221992"/>
            <a:ext cx="10424160" cy="876300"/>
          </a:xfrm>
          <a:prstGeom prst="rect">
            <a:avLst/>
          </a:prstGeom>
          <a:noFill/>
        </p:spPr>
        <p:txBody>
          <a:bodyPr wrap="square" lIns="0" rIns="0" tIns="0">
            <a:spAutoFit/>
          </a:bodyPr>
          <a:lstStyle/>
          <a:p>
            <a:pPr>
              <a:defRPr sz="1600">
                <a:solidFill>
                  <a:srgbClr val="0D1C33"/>
                </a:solidFill>
                <a:latin typeface="Aptos"/>
              </a:defRPr>
            </a:pPr>
            <a:r>
              <a:t>Büyük veri ağ üzerinde küçük paketler halinde taşınır. Paketler ağ koşullarına göre farklı yönlendiricilerden geçebilir. Örneğin büyük bir görsel tek bir parça halinde taşınmak yerine ağın taşıyabileceği küçük birimlere bölünür.</a:t>
            </a:r>
          </a:p>
        </p:txBody>
      </p:sp>
      <p:sp>
        <p:nvSpPr>
          <p:cNvPr id="6" name="TextBox 5"/>
          <p:cNvSpPr txBox="1"/>
          <p:nvPr/>
        </p:nvSpPr>
        <p:spPr>
          <a:xfrm>
            <a:off x="841248" y="330403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Doğru sıraya koyma</a:t>
            </a:r>
          </a:p>
        </p:txBody>
      </p:sp>
      <p:sp>
        <p:nvSpPr>
          <p:cNvPr id="7" name="TextBox 6"/>
          <p:cNvSpPr txBox="1"/>
          <p:nvPr/>
        </p:nvSpPr>
        <p:spPr>
          <a:xfrm>
            <a:off x="841248" y="3715512"/>
            <a:ext cx="10424160" cy="876300"/>
          </a:xfrm>
          <a:prstGeom prst="rect">
            <a:avLst/>
          </a:prstGeom>
          <a:noFill/>
        </p:spPr>
        <p:txBody>
          <a:bodyPr wrap="square" lIns="0" rIns="0" tIns="0">
            <a:spAutoFit/>
          </a:bodyPr>
          <a:lstStyle/>
          <a:p>
            <a:pPr>
              <a:defRPr sz="1600">
                <a:solidFill>
                  <a:srgbClr val="0D1C33"/>
                </a:solidFill>
                <a:latin typeface="Aptos"/>
              </a:defRPr>
            </a:pPr>
            <a:r>
              <a:t>TCP eksik veriyi yeniden isteme ve sıraya koyma işlerini üstlenir. Tarayıcı tamamlanan yanıtı HTML, CSS veya görsel olarak işler. Paketlerin farklı yollardan ulaşması uygulamanın içeriği karışık göstereceği anlamına gelmez; taşıma katmanı sırayı yönetir.</a:t>
            </a:r>
          </a:p>
        </p:txBody>
      </p:sp>
      <p:sp>
        <p:nvSpPr>
          <p:cNvPr id="8" name="TextBox 7"/>
          <p:cNvSpPr txBox="1"/>
          <p:nvPr/>
        </p:nvSpPr>
        <p:spPr>
          <a:xfrm>
            <a:off x="841248" y="479755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Gecikmenin kaynağı</a:t>
            </a:r>
          </a:p>
        </p:txBody>
      </p:sp>
      <p:sp>
        <p:nvSpPr>
          <p:cNvPr id="9" name="TextBox 8"/>
          <p:cNvSpPr txBox="1"/>
          <p:nvPr/>
        </p:nvSpPr>
        <p:spPr>
          <a:xfrm>
            <a:off x="841248" y="5209032"/>
            <a:ext cx="10424160" cy="876300"/>
          </a:xfrm>
          <a:prstGeom prst="rect">
            <a:avLst/>
          </a:prstGeom>
          <a:noFill/>
        </p:spPr>
        <p:txBody>
          <a:bodyPr wrap="square" lIns="0" rIns="0" tIns="0">
            <a:spAutoFit/>
          </a:bodyPr>
          <a:lstStyle/>
          <a:p>
            <a:pPr>
              <a:defRPr sz="1600">
                <a:solidFill>
                  <a:srgbClr val="0D1C33"/>
                </a:solidFill>
                <a:latin typeface="Aptos"/>
              </a:defRPr>
            </a:pPr>
            <a:r>
              <a:t>DNS, bağlantı kurma, ağ mesafesi ve sunucunun yanıt süresi sayfanın açılma hızını etkiler. Uzak sunucudaki aynı sayfanın yakın sunucuya göre geç açılmasının nedenlerinden biri ağ gecikmesidir.</a:t>
            </a:r>
          </a:p>
        </p:txBody>
      </p:sp>
      <p:sp>
        <p:nvSpPr>
          <p:cNvPr id="10" name="TextBox 9"/>
          <p:cNvSpPr txBox="1"/>
          <p:nvPr/>
        </p:nvSpPr>
        <p:spPr>
          <a:xfrm>
            <a:off x="685800" y="6473952"/>
            <a:ext cx="91440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Sancak  /  Faz 1</a:t>
            </a:r>
          </a:p>
        </p:txBody>
      </p:sp>
      <p:sp>
        <p:nvSpPr>
          <p:cNvPr id="11" name="TextBox 10"/>
          <p:cNvSpPr txBox="1"/>
          <p:nvPr/>
        </p:nvSpPr>
        <p:spPr>
          <a:xfrm>
            <a:off x="11082528" y="6473952"/>
            <a:ext cx="4572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58368" y="292608"/>
            <a:ext cx="10058400" cy="320040"/>
          </a:xfrm>
          <a:prstGeom prst="rect">
            <a:avLst/>
          </a:prstGeom>
          <a:noFill/>
        </p:spPr>
        <p:txBody>
          <a:bodyPr wrap="square" lIns="0" rIns="0" tIns="0">
            <a:spAutoFit/>
          </a:bodyPr>
          <a:lstStyle/>
          <a:p>
            <a:pPr>
              <a:spcAft>
                <a:spcPts val="1000"/>
              </a:spcAft>
              <a:defRPr sz="1300" b="1">
                <a:solidFill>
                  <a:srgbClr val="1B899B"/>
                </a:solidFill>
                <a:latin typeface="Aptos"/>
              </a:defRPr>
            </a:pPr>
            <a:r>
              <a:t>AĞ İLETİŞİMİ</a:t>
            </a:r>
          </a:p>
        </p:txBody>
      </p:sp>
      <p:sp>
        <p:nvSpPr>
          <p:cNvPr id="3" name="TextBox 2"/>
          <p:cNvSpPr txBox="1"/>
          <p:nvPr/>
        </p:nvSpPr>
        <p:spPr>
          <a:xfrm>
            <a:off x="658368" y="795528"/>
            <a:ext cx="10881360" cy="822960"/>
          </a:xfrm>
          <a:prstGeom prst="rect">
            <a:avLst/>
          </a:prstGeom>
          <a:noFill/>
        </p:spPr>
        <p:txBody>
          <a:bodyPr wrap="square" lIns="0" rIns="0" tIns="0">
            <a:spAutoFit/>
          </a:bodyPr>
          <a:lstStyle/>
          <a:p>
            <a:pPr>
              <a:spcAft>
                <a:spcPts val="1000"/>
              </a:spcAft>
              <a:defRPr sz="3200" b="1">
                <a:solidFill>
                  <a:srgbClr val="0D1C33"/>
                </a:solidFill>
                <a:latin typeface="Aptos"/>
              </a:defRPr>
            </a:pPr>
            <a:r>
              <a:t>Arama motoru botları sayfayı nasıl bulur?</a:t>
            </a:r>
          </a:p>
        </p:txBody>
      </p:sp>
      <p:sp>
        <p:nvSpPr>
          <p:cNvPr id="4" name="TextBox 3"/>
          <p:cNvSpPr txBox="1"/>
          <p:nvPr/>
        </p:nvSpPr>
        <p:spPr>
          <a:xfrm>
            <a:off x="841248" y="181051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Keşif ve tarama</a:t>
            </a:r>
          </a:p>
        </p:txBody>
      </p:sp>
      <p:sp>
        <p:nvSpPr>
          <p:cNvPr id="5" name="TextBox 4"/>
          <p:cNvSpPr txBox="1"/>
          <p:nvPr/>
        </p:nvSpPr>
        <p:spPr>
          <a:xfrm>
            <a:off x="841248" y="2221992"/>
            <a:ext cx="10424160" cy="876300"/>
          </a:xfrm>
          <a:prstGeom prst="rect">
            <a:avLst/>
          </a:prstGeom>
          <a:noFill/>
        </p:spPr>
        <p:txBody>
          <a:bodyPr wrap="square" lIns="0" rIns="0" tIns="0">
            <a:spAutoFit/>
          </a:bodyPr>
          <a:lstStyle/>
          <a:p>
            <a:pPr>
              <a:defRPr sz="1600">
                <a:solidFill>
                  <a:srgbClr val="0D1C33"/>
                </a:solidFill>
                <a:latin typeface="Aptos"/>
              </a:defRPr>
            </a:pPr>
            <a:r>
              <a:t>Botlar bağlantıları ve site haritalarını izleyerek URL'leri bulur; izin verilen sayfaları isteyip içeriği okur. Örneğin ana sayfadaki bir bağlantı botun daha önce bilmediği proje sayfasını keşfetmesini sağlayabilir.</a:t>
            </a:r>
          </a:p>
        </p:txBody>
      </p:sp>
      <p:sp>
        <p:nvSpPr>
          <p:cNvPr id="6" name="TextBox 5"/>
          <p:cNvSpPr txBox="1"/>
          <p:nvPr/>
        </p:nvSpPr>
        <p:spPr>
          <a:xfrm>
            <a:off x="841248" y="330403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İçeriği yorumlama</a:t>
            </a:r>
          </a:p>
        </p:txBody>
      </p:sp>
      <p:sp>
        <p:nvSpPr>
          <p:cNvPr id="7" name="TextBox 6"/>
          <p:cNvSpPr txBox="1"/>
          <p:nvPr/>
        </p:nvSpPr>
        <p:spPr>
          <a:xfrm>
            <a:off x="841248" y="3715512"/>
            <a:ext cx="10424160" cy="876300"/>
          </a:xfrm>
          <a:prstGeom prst="rect">
            <a:avLst/>
          </a:prstGeom>
          <a:noFill/>
        </p:spPr>
        <p:txBody>
          <a:bodyPr wrap="square" lIns="0" rIns="0" tIns="0">
            <a:spAutoFit/>
          </a:bodyPr>
          <a:lstStyle/>
          <a:p>
            <a:pPr>
              <a:defRPr sz="1600">
                <a:solidFill>
                  <a:srgbClr val="0D1C33"/>
                </a:solidFill>
                <a:latin typeface="Aptos"/>
              </a:defRPr>
            </a:pPr>
            <a:r>
              <a:t>Başlıklar, bağlantılar ve semantik HTML sayfanın konusunu anlamaya yardım eder. Bazı botlar JavaScript çalıştırarak sonradan gelen içeriği de görebilir. &lt;h1&gt; başlığı ve &lt;main&gt; alanı insanlara olduğu gibi arama sistemlerine de içerik düzeni hakkında ipucu verir.</a:t>
            </a:r>
          </a:p>
        </p:txBody>
      </p:sp>
      <p:sp>
        <p:nvSpPr>
          <p:cNvPr id="8" name="TextBox 7"/>
          <p:cNvSpPr txBox="1"/>
          <p:nvPr/>
        </p:nvSpPr>
        <p:spPr>
          <a:xfrm>
            <a:off x="841248" y="479755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Dizinleme</a:t>
            </a:r>
          </a:p>
        </p:txBody>
      </p:sp>
      <p:sp>
        <p:nvSpPr>
          <p:cNvPr id="9" name="TextBox 8"/>
          <p:cNvSpPr txBox="1"/>
          <p:nvPr/>
        </p:nvSpPr>
        <p:spPr>
          <a:xfrm>
            <a:off x="841248" y="5209032"/>
            <a:ext cx="10424160" cy="876300"/>
          </a:xfrm>
          <a:prstGeom prst="rect">
            <a:avLst/>
          </a:prstGeom>
          <a:noFill/>
        </p:spPr>
        <p:txBody>
          <a:bodyPr wrap="square" lIns="0" rIns="0" tIns="0">
            <a:spAutoFit/>
          </a:bodyPr>
          <a:lstStyle/>
          <a:p>
            <a:pPr>
              <a:defRPr sz="1600">
                <a:solidFill>
                  <a:srgbClr val="0D1C33"/>
                </a:solidFill>
                <a:latin typeface="Aptos"/>
              </a:defRPr>
            </a:pPr>
            <a:r>
              <a:t>Arama motoru uygun içeriği kendi dizinine ekleyebilir; taranmak otomatik olarak dizine alınmak anlamına gelmez. Giriş gerektiren, engellenmiş veya düşük değerli sayfalar bulunmuş olsa bile arama sonuçlarına eklenmeyebilir.</a:t>
            </a:r>
          </a:p>
        </p:txBody>
      </p:sp>
      <p:sp>
        <p:nvSpPr>
          <p:cNvPr id="10" name="TextBox 9"/>
          <p:cNvSpPr txBox="1"/>
          <p:nvPr/>
        </p:nvSpPr>
        <p:spPr>
          <a:xfrm>
            <a:off x="685800" y="6473952"/>
            <a:ext cx="91440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Sancak  /  Faz 1</a:t>
            </a:r>
          </a:p>
        </p:txBody>
      </p:sp>
      <p:sp>
        <p:nvSpPr>
          <p:cNvPr id="11" name="TextBox 10"/>
          <p:cNvSpPr txBox="1"/>
          <p:nvPr/>
        </p:nvSpPr>
        <p:spPr>
          <a:xfrm>
            <a:off x="11082528" y="6473952"/>
            <a:ext cx="4572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1C33"/>
        </a:solidFill>
        <a:effectLst/>
      </p:bgPr>
    </p:bg>
    <p:spTree>
      <p:nvGrpSpPr>
        <p:cNvPr id="1" name=""/>
        <p:cNvGrpSpPr/>
        <p:nvPr/>
      </p:nvGrpSpPr>
      <p:grpSpPr/>
      <p:sp>
        <p:nvSpPr>
          <p:cNvPr id="2" name="TextBox 1"/>
          <p:cNvSpPr txBox="1"/>
          <p:nvPr/>
        </p:nvSpPr>
        <p:spPr>
          <a:xfrm>
            <a:off x="822960" y="658368"/>
            <a:ext cx="9144000" cy="365760"/>
          </a:xfrm>
          <a:prstGeom prst="rect">
            <a:avLst/>
          </a:prstGeom>
          <a:noFill/>
        </p:spPr>
        <p:txBody>
          <a:bodyPr wrap="square" lIns="0" rIns="0" tIns="0">
            <a:spAutoFit/>
          </a:bodyPr>
          <a:lstStyle/>
          <a:p>
            <a:pPr>
              <a:spcAft>
                <a:spcPts val="1000"/>
              </a:spcAft>
              <a:defRPr sz="1500" b="1">
                <a:solidFill>
                  <a:srgbClr val="EBB74D"/>
                </a:solidFill>
                <a:latin typeface="Aptos"/>
              </a:defRPr>
            </a:pPr>
            <a:r>
              <a:t>BÖLÜM 03</a:t>
            </a:r>
          </a:p>
        </p:txBody>
      </p:sp>
      <p:sp>
        <p:nvSpPr>
          <p:cNvPr id="3" name="TextBox 2"/>
          <p:cNvSpPr txBox="1"/>
          <p:nvPr/>
        </p:nvSpPr>
        <p:spPr>
          <a:xfrm>
            <a:off x="822960" y="1481328"/>
            <a:ext cx="10424160" cy="2011680"/>
          </a:xfrm>
          <a:prstGeom prst="rect">
            <a:avLst/>
          </a:prstGeom>
          <a:noFill/>
        </p:spPr>
        <p:txBody>
          <a:bodyPr wrap="square" lIns="0" rIns="0" tIns="0">
            <a:spAutoFit/>
          </a:bodyPr>
          <a:lstStyle/>
          <a:p>
            <a:pPr>
              <a:spcAft>
                <a:spcPts val="1000"/>
              </a:spcAft>
              <a:defRPr sz="4400" b="1">
                <a:solidFill>
                  <a:srgbClr val="F8FAFD"/>
                </a:solidFill>
                <a:latin typeface="Aptos"/>
              </a:defRPr>
            </a:pPr>
            <a:r>
              <a:t>03 / Tarayıcı motoru</a:t>
            </a:r>
          </a:p>
        </p:txBody>
      </p:sp>
      <p:sp>
        <p:nvSpPr>
          <p:cNvPr id="4" name="TextBox 3"/>
          <p:cNvSpPr txBox="1"/>
          <p:nvPr/>
        </p:nvSpPr>
        <p:spPr>
          <a:xfrm>
            <a:off x="859536" y="3977639"/>
            <a:ext cx="9966960" cy="1097280"/>
          </a:xfrm>
          <a:prstGeom prst="rect">
            <a:avLst/>
          </a:prstGeom>
          <a:noFill/>
        </p:spPr>
        <p:txBody>
          <a:bodyPr wrap="square" lIns="0" rIns="0" tIns="0">
            <a:spAutoFit/>
          </a:bodyPr>
          <a:lstStyle/>
          <a:p>
            <a:pPr>
              <a:spcAft>
                <a:spcPts val="1000"/>
              </a:spcAft>
              <a:defRPr sz="2300" b="0">
                <a:solidFill>
                  <a:srgbClr val="F8FAFD"/>
                </a:solidFill>
                <a:latin typeface="Aptos"/>
              </a:defRPr>
            </a:pPr>
            <a:r>
              <a:t>HTML ve CSS ekranda gördüğümüz sayfaya nasıl dönüşür?</a:t>
            </a:r>
          </a:p>
        </p:txBody>
      </p:sp>
      <p:sp>
        <p:nvSpPr>
          <p:cNvPr id="5" name="TextBox 4"/>
          <p:cNvSpPr txBox="1"/>
          <p:nvPr/>
        </p:nvSpPr>
        <p:spPr>
          <a:xfrm>
            <a:off x="859536" y="6245352"/>
            <a:ext cx="10058400" cy="274320"/>
          </a:xfrm>
          <a:prstGeom prst="rect">
            <a:avLst/>
          </a:prstGeom>
          <a:noFill/>
        </p:spPr>
        <p:txBody>
          <a:bodyPr wrap="square" lIns="0" rIns="0" tIns="0">
            <a:spAutoFit/>
          </a:bodyPr>
          <a:lstStyle/>
          <a:p>
            <a:pPr>
              <a:spcAft>
                <a:spcPts val="1000"/>
              </a:spcAft>
              <a:defRPr sz="1300" b="1">
                <a:solidFill>
                  <a:srgbClr val="EBB74D"/>
                </a:solidFill>
                <a:latin typeface="Aptos"/>
              </a:defRPr>
            </a:pPr>
            <a:r>
              <a:t>SANCAK  /  Getting Started Modules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58368" y="292608"/>
            <a:ext cx="10058400" cy="320040"/>
          </a:xfrm>
          <a:prstGeom prst="rect">
            <a:avLst/>
          </a:prstGeom>
          <a:noFill/>
        </p:spPr>
        <p:txBody>
          <a:bodyPr wrap="square" lIns="0" rIns="0" tIns="0">
            <a:spAutoFit/>
          </a:bodyPr>
          <a:lstStyle/>
          <a:p>
            <a:pPr>
              <a:spcAft>
                <a:spcPts val="1000"/>
              </a:spcAft>
              <a:defRPr sz="1300" b="1">
                <a:solidFill>
                  <a:srgbClr val="1B899B"/>
                </a:solidFill>
                <a:latin typeface="Aptos"/>
              </a:defRPr>
            </a:pPr>
            <a:r>
              <a:t>TARAYICI MOTORU</a:t>
            </a:r>
          </a:p>
        </p:txBody>
      </p:sp>
      <p:sp>
        <p:nvSpPr>
          <p:cNvPr id="3" name="TextBox 2"/>
          <p:cNvSpPr txBox="1"/>
          <p:nvPr/>
        </p:nvSpPr>
        <p:spPr>
          <a:xfrm>
            <a:off x="658368" y="795528"/>
            <a:ext cx="10881360" cy="822960"/>
          </a:xfrm>
          <a:prstGeom prst="rect">
            <a:avLst/>
          </a:prstGeom>
          <a:noFill/>
        </p:spPr>
        <p:txBody>
          <a:bodyPr wrap="square" lIns="0" rIns="0" tIns="0">
            <a:spAutoFit/>
          </a:bodyPr>
          <a:lstStyle/>
          <a:p>
            <a:pPr>
              <a:spcAft>
                <a:spcPts val="1000"/>
              </a:spcAft>
              <a:defRPr sz="3200" b="1">
                <a:solidFill>
                  <a:srgbClr val="0D1C33"/>
                </a:solidFill>
                <a:latin typeface="Aptos"/>
              </a:defRPr>
            </a:pPr>
            <a:r>
              <a:t>HTML’den DOM ağacına</a:t>
            </a:r>
          </a:p>
        </p:txBody>
      </p:sp>
      <p:sp>
        <p:nvSpPr>
          <p:cNvPr id="4" name="TextBox 3"/>
          <p:cNvSpPr txBox="1"/>
          <p:nvPr/>
        </p:nvSpPr>
        <p:spPr>
          <a:xfrm>
            <a:off x="841248" y="181051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HTML ayrıştırıcısı</a:t>
            </a:r>
          </a:p>
        </p:txBody>
      </p:sp>
      <p:sp>
        <p:nvSpPr>
          <p:cNvPr id="5" name="TextBox 4"/>
          <p:cNvSpPr txBox="1"/>
          <p:nvPr/>
        </p:nvSpPr>
        <p:spPr>
          <a:xfrm>
            <a:off x="841248" y="2221992"/>
            <a:ext cx="10424160" cy="876300"/>
          </a:xfrm>
          <a:prstGeom prst="rect">
            <a:avLst/>
          </a:prstGeom>
          <a:noFill/>
        </p:spPr>
        <p:txBody>
          <a:bodyPr wrap="square" lIns="0" rIns="0" tIns="0">
            <a:spAutoFit/>
          </a:bodyPr>
          <a:lstStyle/>
          <a:p>
            <a:pPr>
              <a:defRPr sz="1600">
                <a:solidFill>
                  <a:srgbClr val="0D1C33"/>
                </a:solidFill>
                <a:latin typeface="Aptos"/>
              </a:defRPr>
            </a:pPr>
            <a:r>
              <a:t>Tarayıcı gelen baytları karakterlere ve HTML tokenlarına dönüştürür; açılış ve kapanış etiketlerini işleyerek düğümler kurar. Örneğin &lt;main&gt;&lt;h1&gt;Merhaba&lt;/h1&gt;&lt;/main&gt; yapısı bellekte iç içe düğümlere dönüşür.</a:t>
            </a:r>
          </a:p>
        </p:txBody>
      </p:sp>
      <p:sp>
        <p:nvSpPr>
          <p:cNvPr id="6" name="TextBox 5"/>
          <p:cNvSpPr txBox="1"/>
          <p:nvPr/>
        </p:nvSpPr>
        <p:spPr>
          <a:xfrm>
            <a:off x="841248" y="330403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DOM</a:t>
            </a:r>
          </a:p>
        </p:txBody>
      </p:sp>
      <p:sp>
        <p:nvSpPr>
          <p:cNvPr id="7" name="TextBox 6"/>
          <p:cNvSpPr txBox="1"/>
          <p:nvPr/>
        </p:nvSpPr>
        <p:spPr>
          <a:xfrm>
            <a:off x="841248" y="3715512"/>
            <a:ext cx="10424160" cy="876300"/>
          </a:xfrm>
          <a:prstGeom prst="rect">
            <a:avLst/>
          </a:prstGeom>
          <a:noFill/>
        </p:spPr>
        <p:txBody>
          <a:bodyPr wrap="square" lIns="0" rIns="0" tIns="0">
            <a:spAutoFit/>
          </a:bodyPr>
          <a:lstStyle/>
          <a:p>
            <a:pPr>
              <a:defRPr sz="1600">
                <a:solidFill>
                  <a:srgbClr val="0D1C33"/>
                </a:solidFill>
                <a:latin typeface="Aptos"/>
              </a:defRPr>
            </a:pPr>
            <a:r>
              <a:t>Document Object Model, sayfanın bellekteki ağaç temsilidir. JavaScript bu ağaçtaki öğeleri bulup değiştirebilir. Bu ağaç, sayfanın yalnızca ekrandaki görünümü değildir; öğeler arasında ebeveyn ve çocuk ilişkisi kurar.</a:t>
            </a:r>
          </a:p>
        </p:txBody>
      </p:sp>
      <p:sp>
        <p:nvSpPr>
          <p:cNvPr id="8" name="TextBox 7"/>
          <p:cNvSpPr txBox="1"/>
          <p:nvPr/>
        </p:nvSpPr>
        <p:spPr>
          <a:xfrm>
            <a:off x="841248" y="479755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Derleme ifadesi</a:t>
            </a:r>
          </a:p>
        </p:txBody>
      </p:sp>
      <p:sp>
        <p:nvSpPr>
          <p:cNvPr id="9" name="TextBox 8"/>
          <p:cNvSpPr txBox="1"/>
          <p:nvPr/>
        </p:nvSpPr>
        <p:spPr>
          <a:xfrm>
            <a:off x="841248" y="5209032"/>
            <a:ext cx="10424160" cy="876300"/>
          </a:xfrm>
          <a:prstGeom prst="rect">
            <a:avLst/>
          </a:prstGeom>
          <a:noFill/>
        </p:spPr>
        <p:txBody>
          <a:bodyPr wrap="square" lIns="0" rIns="0" tIns="0">
            <a:spAutoFit/>
          </a:bodyPr>
          <a:lstStyle/>
          <a:p>
            <a:pPr>
              <a:defRPr sz="1600">
                <a:solidFill>
                  <a:srgbClr val="0D1C33"/>
                </a:solidFill>
                <a:latin typeface="Aptos"/>
              </a:defRPr>
            </a:pPr>
            <a:r>
              <a:t>HTML bir programlama dili gibi makine koduna derlenmez. Tarayıcı onu bir ayrıştırıcıyla işler; 'yorumlanır' demek burada kabaca açıklayıcı bir ifadedir. HTML hataları olsa bile tarayıcı çoğu zaman toparlamaya çalışır; bu yüzden tarayıcıda görünmesi kodun doğru olduğu anlamına gelmez.</a:t>
            </a:r>
          </a:p>
        </p:txBody>
      </p:sp>
      <p:sp>
        <p:nvSpPr>
          <p:cNvPr id="10" name="TextBox 9"/>
          <p:cNvSpPr txBox="1"/>
          <p:nvPr/>
        </p:nvSpPr>
        <p:spPr>
          <a:xfrm>
            <a:off x="685800" y="6473952"/>
            <a:ext cx="91440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Sancak  /  Faz 1</a:t>
            </a:r>
          </a:p>
        </p:txBody>
      </p:sp>
      <p:sp>
        <p:nvSpPr>
          <p:cNvPr id="11" name="TextBox 10"/>
          <p:cNvSpPr txBox="1"/>
          <p:nvPr/>
        </p:nvSpPr>
        <p:spPr>
          <a:xfrm>
            <a:off x="11082528" y="6473952"/>
            <a:ext cx="4572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58368" y="292608"/>
            <a:ext cx="10058400" cy="320040"/>
          </a:xfrm>
          <a:prstGeom prst="rect">
            <a:avLst/>
          </a:prstGeom>
          <a:noFill/>
        </p:spPr>
        <p:txBody>
          <a:bodyPr wrap="square" lIns="0" rIns="0" tIns="0">
            <a:spAutoFit/>
          </a:bodyPr>
          <a:lstStyle/>
          <a:p>
            <a:pPr>
              <a:spcAft>
                <a:spcPts val="1000"/>
              </a:spcAft>
              <a:defRPr sz="1300" b="1">
                <a:solidFill>
                  <a:srgbClr val="1B899B"/>
                </a:solidFill>
                <a:latin typeface="Aptos"/>
              </a:defRPr>
            </a:pPr>
            <a:r>
              <a:t>TARAYICI MOTORU</a:t>
            </a:r>
          </a:p>
        </p:txBody>
      </p:sp>
      <p:sp>
        <p:nvSpPr>
          <p:cNvPr id="3" name="TextBox 2"/>
          <p:cNvSpPr txBox="1"/>
          <p:nvPr/>
        </p:nvSpPr>
        <p:spPr>
          <a:xfrm>
            <a:off x="658368" y="795528"/>
            <a:ext cx="10881360" cy="822960"/>
          </a:xfrm>
          <a:prstGeom prst="rect">
            <a:avLst/>
          </a:prstGeom>
          <a:noFill/>
        </p:spPr>
        <p:txBody>
          <a:bodyPr wrap="square" lIns="0" rIns="0" tIns="0">
            <a:spAutoFit/>
          </a:bodyPr>
          <a:lstStyle/>
          <a:p>
            <a:pPr>
              <a:spcAft>
                <a:spcPts val="1000"/>
              </a:spcAft>
              <a:defRPr sz="3200" b="1">
                <a:solidFill>
                  <a:srgbClr val="0D1C33"/>
                </a:solidFill>
                <a:latin typeface="Aptos"/>
              </a:defRPr>
            </a:pPr>
            <a:r>
              <a:t>DOCTYPE ve Quirks Mode</a:t>
            </a:r>
          </a:p>
        </p:txBody>
      </p:sp>
      <p:sp>
        <p:nvSpPr>
          <p:cNvPr id="4" name="TextBox 3"/>
          <p:cNvSpPr txBox="1"/>
          <p:nvPr/>
        </p:nvSpPr>
        <p:spPr>
          <a:xfrm>
            <a:off x="841248" y="181051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Standart mod</a:t>
            </a:r>
          </a:p>
        </p:txBody>
      </p:sp>
      <p:sp>
        <p:nvSpPr>
          <p:cNvPr id="5" name="TextBox 4"/>
          <p:cNvSpPr txBox="1"/>
          <p:nvPr/>
        </p:nvSpPr>
        <p:spPr>
          <a:xfrm>
            <a:off x="841248" y="2221992"/>
            <a:ext cx="10424160" cy="876300"/>
          </a:xfrm>
          <a:prstGeom prst="rect">
            <a:avLst/>
          </a:prstGeom>
          <a:noFill/>
        </p:spPr>
        <p:txBody>
          <a:bodyPr wrap="square" lIns="0" rIns="0" tIns="0">
            <a:spAutoFit/>
          </a:bodyPr>
          <a:lstStyle/>
          <a:p>
            <a:pPr>
              <a:defRPr sz="1600">
                <a:solidFill>
                  <a:srgbClr val="0D1C33"/>
                </a:solidFill>
                <a:latin typeface="Aptos"/>
              </a:defRPr>
            </a:pPr>
            <a:r>
              <a:t>En baştaki &lt;!DOCTYPE html&gt; modern HTML belgesini işaretler ve tarayıcının standart modunu seçmesine yardım eder. Örneğin bir kutunun genişliği eski uyumluluk davranışında farklı hesaplanabilir ve tasarım kayabilir.</a:t>
            </a:r>
          </a:p>
        </p:txBody>
      </p:sp>
      <p:sp>
        <p:nvSpPr>
          <p:cNvPr id="6" name="TextBox 5"/>
          <p:cNvSpPr txBox="1"/>
          <p:nvPr/>
        </p:nvSpPr>
        <p:spPr>
          <a:xfrm>
            <a:off x="841248" y="330403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Eksik olduğunda</a:t>
            </a:r>
          </a:p>
        </p:txBody>
      </p:sp>
      <p:sp>
        <p:nvSpPr>
          <p:cNvPr id="7" name="TextBox 6"/>
          <p:cNvSpPr txBox="1"/>
          <p:nvPr/>
        </p:nvSpPr>
        <p:spPr>
          <a:xfrm>
            <a:off x="841248" y="3715512"/>
            <a:ext cx="10424160" cy="876300"/>
          </a:xfrm>
          <a:prstGeom prst="rect">
            <a:avLst/>
          </a:prstGeom>
          <a:noFill/>
        </p:spPr>
        <p:txBody>
          <a:bodyPr wrap="square" lIns="0" rIns="0" tIns="0">
            <a:spAutoFit/>
          </a:bodyPr>
          <a:lstStyle/>
          <a:p>
            <a:pPr>
              <a:defRPr sz="1600">
                <a:solidFill>
                  <a:srgbClr val="0D1C33"/>
                </a:solidFill>
                <a:latin typeface="Aptos"/>
              </a:defRPr>
            </a:pPr>
            <a:r>
              <a:t>Tarayıcı geriye uyumluluk için Quirks Mode'a geçebilir. Bazı CSS ölçüleri ve yerleşimler beklenenden farklı davranır. Quirks Mode eski siteleri çalıştırmak için vardır; modern bir projede beklediğimiz kuralların uygulanmasını istemeyiz.</a:t>
            </a:r>
          </a:p>
        </p:txBody>
      </p:sp>
      <p:sp>
        <p:nvSpPr>
          <p:cNvPr id="8" name="TextBox 7"/>
          <p:cNvSpPr txBox="1"/>
          <p:nvPr/>
        </p:nvSpPr>
        <p:spPr>
          <a:xfrm>
            <a:off x="841248" y="479755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Gerçek etki</a:t>
            </a:r>
          </a:p>
        </p:txBody>
      </p:sp>
      <p:sp>
        <p:nvSpPr>
          <p:cNvPr id="9" name="TextBox 8"/>
          <p:cNvSpPr txBox="1"/>
          <p:nvPr/>
        </p:nvSpPr>
        <p:spPr>
          <a:xfrm>
            <a:off x="841248" y="5209032"/>
            <a:ext cx="10424160" cy="876300"/>
          </a:xfrm>
          <a:prstGeom prst="rect">
            <a:avLst/>
          </a:prstGeom>
          <a:noFill/>
        </p:spPr>
        <p:txBody>
          <a:bodyPr wrap="square" lIns="0" rIns="0" tIns="0">
            <a:spAutoFit/>
          </a:bodyPr>
          <a:lstStyle/>
          <a:p>
            <a:pPr>
              <a:defRPr sz="1600">
                <a:solidFill>
                  <a:srgbClr val="0D1C33"/>
                </a:solidFill>
                <a:latin typeface="Aptos"/>
              </a:defRPr>
            </a:pPr>
            <a:r>
              <a:t>Sayfanın mutlaka çökmesi veya işlemcinin belirgin yorulması gerekmez; temel risk tutarsız görüntüdür. Bu satırı ilk sıraya koymak kolay bir önlemdir: &lt;!DOCTYPE html&gt;.</a:t>
            </a:r>
          </a:p>
        </p:txBody>
      </p:sp>
      <p:sp>
        <p:nvSpPr>
          <p:cNvPr id="10" name="TextBox 9"/>
          <p:cNvSpPr txBox="1"/>
          <p:nvPr/>
        </p:nvSpPr>
        <p:spPr>
          <a:xfrm>
            <a:off x="685800" y="6473952"/>
            <a:ext cx="91440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Sancak  /  Faz 1</a:t>
            </a:r>
          </a:p>
        </p:txBody>
      </p:sp>
      <p:sp>
        <p:nvSpPr>
          <p:cNvPr id="11" name="TextBox 10"/>
          <p:cNvSpPr txBox="1"/>
          <p:nvPr/>
        </p:nvSpPr>
        <p:spPr>
          <a:xfrm>
            <a:off x="11082528" y="6473952"/>
            <a:ext cx="4572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58368" y="292608"/>
            <a:ext cx="10058400" cy="320040"/>
          </a:xfrm>
          <a:prstGeom prst="rect">
            <a:avLst/>
          </a:prstGeom>
          <a:noFill/>
        </p:spPr>
        <p:txBody>
          <a:bodyPr wrap="square" lIns="0" rIns="0" tIns="0">
            <a:spAutoFit/>
          </a:bodyPr>
          <a:lstStyle/>
          <a:p>
            <a:pPr>
              <a:spcAft>
                <a:spcPts val="1000"/>
              </a:spcAft>
              <a:defRPr sz="1300" b="1">
                <a:solidFill>
                  <a:srgbClr val="1B899B"/>
                </a:solidFill>
                <a:latin typeface="Aptos"/>
              </a:defRPr>
            </a:pPr>
            <a:r>
              <a:t>TARAYICI MOTORU</a:t>
            </a:r>
          </a:p>
        </p:txBody>
      </p:sp>
      <p:sp>
        <p:nvSpPr>
          <p:cNvPr id="3" name="TextBox 2"/>
          <p:cNvSpPr txBox="1"/>
          <p:nvPr/>
        </p:nvSpPr>
        <p:spPr>
          <a:xfrm>
            <a:off x="658368" y="795528"/>
            <a:ext cx="10881360" cy="822960"/>
          </a:xfrm>
          <a:prstGeom prst="rect">
            <a:avLst/>
          </a:prstGeom>
          <a:noFill/>
        </p:spPr>
        <p:txBody>
          <a:bodyPr wrap="square" lIns="0" rIns="0" tIns="0">
            <a:spAutoFit/>
          </a:bodyPr>
          <a:lstStyle/>
          <a:p>
            <a:pPr>
              <a:spcAft>
                <a:spcPts val="1000"/>
              </a:spcAft>
              <a:defRPr sz="3200" b="1">
                <a:solidFill>
                  <a:srgbClr val="0D1C33"/>
                </a:solidFill>
                <a:latin typeface="Aptos"/>
              </a:defRPr>
            </a:pPr>
            <a:r>
              <a:t>Semantik HTML niçin kullanılır?</a:t>
            </a:r>
          </a:p>
        </p:txBody>
      </p:sp>
      <p:sp>
        <p:nvSpPr>
          <p:cNvPr id="4" name="TextBox 3"/>
          <p:cNvSpPr txBox="1"/>
          <p:nvPr/>
        </p:nvSpPr>
        <p:spPr>
          <a:xfrm>
            <a:off x="841248" y="181051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Bölümlerin anlamı</a:t>
            </a:r>
          </a:p>
        </p:txBody>
      </p:sp>
      <p:sp>
        <p:nvSpPr>
          <p:cNvPr id="5" name="TextBox 4"/>
          <p:cNvSpPr txBox="1"/>
          <p:nvPr/>
        </p:nvSpPr>
        <p:spPr>
          <a:xfrm>
            <a:off x="841248" y="2221992"/>
            <a:ext cx="10424160" cy="876300"/>
          </a:xfrm>
          <a:prstGeom prst="rect">
            <a:avLst/>
          </a:prstGeom>
          <a:noFill/>
        </p:spPr>
        <p:txBody>
          <a:bodyPr wrap="square" lIns="0" rIns="0" tIns="0">
            <a:spAutoFit/>
          </a:bodyPr>
          <a:lstStyle/>
          <a:p>
            <a:pPr>
              <a:defRPr sz="1600">
                <a:solidFill>
                  <a:srgbClr val="0D1C33"/>
                </a:solidFill>
                <a:latin typeface="Aptos"/>
              </a:defRPr>
            </a:pPr>
            <a:r>
              <a:t>&lt;header&gt;, &lt;nav&gt;, &lt;main&gt; ve &lt;article&gt; gibi öğeler içeriğin görevini belirtir; yalnızca görsel düzen oluşturmaz. Örneğin &lt;nav&gt; içinde menü bağlantılarını tutmak, ekran okuyucunun kullanıcıya gezinme bölümünü duyurmasını sağlar.</a:t>
            </a:r>
          </a:p>
        </p:txBody>
      </p:sp>
      <p:sp>
        <p:nvSpPr>
          <p:cNvPr id="6" name="TextBox 5"/>
          <p:cNvSpPr txBox="1"/>
          <p:nvPr/>
        </p:nvSpPr>
        <p:spPr>
          <a:xfrm>
            <a:off x="841248" y="330403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Erişilebilirlik</a:t>
            </a:r>
          </a:p>
        </p:txBody>
      </p:sp>
      <p:sp>
        <p:nvSpPr>
          <p:cNvPr id="7" name="TextBox 6"/>
          <p:cNvSpPr txBox="1"/>
          <p:nvPr/>
        </p:nvSpPr>
        <p:spPr>
          <a:xfrm>
            <a:off x="841248" y="3715512"/>
            <a:ext cx="10424160" cy="876300"/>
          </a:xfrm>
          <a:prstGeom prst="rect">
            <a:avLst/>
          </a:prstGeom>
          <a:noFill/>
        </p:spPr>
        <p:txBody>
          <a:bodyPr wrap="square" lIns="0" rIns="0" tIns="0">
            <a:spAutoFit/>
          </a:bodyPr>
          <a:lstStyle/>
          <a:p>
            <a:pPr>
              <a:defRPr sz="1600">
                <a:solidFill>
                  <a:srgbClr val="0D1C33"/>
                </a:solidFill>
                <a:latin typeface="Aptos"/>
              </a:defRPr>
            </a:pPr>
            <a:r>
              <a:t>Tarayıcı bu anlamı erişilebilirlik ağacına yansıtır. Ekran okuyucular kullanıcıya bölümler arasında gezinme imkânı sağlayabilir. Bu bilgi HTML öğelerinden tarayıcı aracılığıyla erişilebilirlik arayüzlerine iletilir.</a:t>
            </a:r>
          </a:p>
        </p:txBody>
      </p:sp>
      <p:sp>
        <p:nvSpPr>
          <p:cNvPr id="8" name="TextBox 7"/>
          <p:cNvSpPr txBox="1"/>
          <p:nvPr/>
        </p:nvSpPr>
        <p:spPr>
          <a:xfrm>
            <a:off x="841248" y="479755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Arama motorları</a:t>
            </a:r>
          </a:p>
        </p:txBody>
      </p:sp>
      <p:sp>
        <p:nvSpPr>
          <p:cNvPr id="9" name="TextBox 8"/>
          <p:cNvSpPr txBox="1"/>
          <p:nvPr/>
        </p:nvSpPr>
        <p:spPr>
          <a:xfrm>
            <a:off x="841248" y="5209032"/>
            <a:ext cx="10424160" cy="876300"/>
          </a:xfrm>
          <a:prstGeom prst="rect">
            <a:avLst/>
          </a:prstGeom>
          <a:noFill/>
        </p:spPr>
        <p:txBody>
          <a:bodyPr wrap="square" lIns="0" rIns="0" tIns="0">
            <a:spAutoFit/>
          </a:bodyPr>
          <a:lstStyle/>
          <a:p>
            <a:pPr>
              <a:defRPr sz="1600">
                <a:solidFill>
                  <a:srgbClr val="0D1C33"/>
                </a:solidFill>
                <a:latin typeface="Aptos"/>
              </a:defRPr>
            </a:pPr>
            <a:r>
              <a:t>Semantik yapı içeriğin anlaşılmasına yardımcı olur; tek başına üst sıralarda görünmeyi garanti etmez. Başlıkların mantıklı sırada olması ve bağlantı metinlerinin açık yazılması da semantik etiketler kadar önemlidir.</a:t>
            </a:r>
          </a:p>
        </p:txBody>
      </p:sp>
      <p:sp>
        <p:nvSpPr>
          <p:cNvPr id="10" name="TextBox 9"/>
          <p:cNvSpPr txBox="1"/>
          <p:nvPr/>
        </p:nvSpPr>
        <p:spPr>
          <a:xfrm>
            <a:off x="685800" y="6473952"/>
            <a:ext cx="91440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Sancak  /  Faz 1</a:t>
            </a:r>
          </a:p>
        </p:txBody>
      </p:sp>
      <p:sp>
        <p:nvSpPr>
          <p:cNvPr id="11" name="TextBox 10"/>
          <p:cNvSpPr txBox="1"/>
          <p:nvPr/>
        </p:nvSpPr>
        <p:spPr>
          <a:xfrm>
            <a:off x="11082528" y="6473952"/>
            <a:ext cx="4572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58368" y="292608"/>
            <a:ext cx="10058400" cy="320040"/>
          </a:xfrm>
          <a:prstGeom prst="rect">
            <a:avLst/>
          </a:prstGeom>
          <a:noFill/>
        </p:spPr>
        <p:txBody>
          <a:bodyPr wrap="square" lIns="0" rIns="0" tIns="0">
            <a:spAutoFit/>
          </a:bodyPr>
          <a:lstStyle/>
          <a:p>
            <a:pPr>
              <a:spcAft>
                <a:spcPts val="1000"/>
              </a:spcAft>
              <a:defRPr sz="1300" b="1">
                <a:solidFill>
                  <a:srgbClr val="1B899B"/>
                </a:solidFill>
                <a:latin typeface="Aptos"/>
              </a:defRPr>
            </a:pPr>
            <a:r>
              <a:t>TARAYICI MOTORU</a:t>
            </a:r>
          </a:p>
        </p:txBody>
      </p:sp>
      <p:sp>
        <p:nvSpPr>
          <p:cNvPr id="3" name="TextBox 2"/>
          <p:cNvSpPr txBox="1"/>
          <p:nvPr/>
        </p:nvSpPr>
        <p:spPr>
          <a:xfrm>
            <a:off x="658368" y="795528"/>
            <a:ext cx="10881360" cy="822960"/>
          </a:xfrm>
          <a:prstGeom prst="rect">
            <a:avLst/>
          </a:prstGeom>
          <a:noFill/>
        </p:spPr>
        <p:txBody>
          <a:bodyPr wrap="square" lIns="0" rIns="0" tIns="0">
            <a:spAutoFit/>
          </a:bodyPr>
          <a:lstStyle/>
          <a:p>
            <a:pPr>
              <a:spcAft>
                <a:spcPts val="1000"/>
              </a:spcAft>
              <a:defRPr sz="3200" b="1">
                <a:solidFill>
                  <a:srgbClr val="0D1C33"/>
                </a:solidFill>
                <a:latin typeface="Aptos"/>
              </a:defRPr>
            </a:pPr>
            <a:r>
              <a:t>CSS sayfaya nasıl uygulanır?</a:t>
            </a:r>
          </a:p>
        </p:txBody>
      </p:sp>
      <p:sp>
        <p:nvSpPr>
          <p:cNvPr id="4" name="TextBox 3"/>
          <p:cNvSpPr txBox="1"/>
          <p:nvPr/>
        </p:nvSpPr>
        <p:spPr>
          <a:xfrm>
            <a:off x="841248" y="181051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Ayrı sorumluluklar</a:t>
            </a:r>
          </a:p>
        </p:txBody>
      </p:sp>
      <p:sp>
        <p:nvSpPr>
          <p:cNvPr id="5" name="TextBox 4"/>
          <p:cNvSpPr txBox="1"/>
          <p:nvPr/>
        </p:nvSpPr>
        <p:spPr>
          <a:xfrm>
            <a:off x="841248" y="2221992"/>
            <a:ext cx="10424160" cy="876300"/>
          </a:xfrm>
          <a:prstGeom prst="rect">
            <a:avLst/>
          </a:prstGeom>
          <a:noFill/>
        </p:spPr>
        <p:txBody>
          <a:bodyPr wrap="square" lIns="0" rIns="0" tIns="0">
            <a:spAutoFit/>
          </a:bodyPr>
          <a:lstStyle/>
          <a:p>
            <a:pPr>
              <a:defRPr sz="1600">
                <a:solidFill>
                  <a:srgbClr val="0D1C33"/>
                </a:solidFill>
                <a:latin typeface="Aptos"/>
              </a:defRPr>
            </a:pPr>
            <a:r>
              <a:t>HTML içeriğin yapısını, CSS görünümünü tanımlar. Böylece aynı içerik farklı ekran boyutlarına göre biçimlenebilir. Örneğin birden fazla sayfada aynı style.css dosyasını kullanarak renkleri tek yerden değiştirebilirsin.</a:t>
            </a:r>
          </a:p>
        </p:txBody>
      </p:sp>
      <p:sp>
        <p:nvSpPr>
          <p:cNvPr id="6" name="TextBox 5"/>
          <p:cNvSpPr txBox="1"/>
          <p:nvPr/>
        </p:nvSpPr>
        <p:spPr>
          <a:xfrm>
            <a:off x="841248" y="330403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CSSOM ve çizim</a:t>
            </a:r>
          </a:p>
        </p:txBody>
      </p:sp>
      <p:sp>
        <p:nvSpPr>
          <p:cNvPr id="7" name="TextBox 6"/>
          <p:cNvSpPr txBox="1"/>
          <p:nvPr/>
        </p:nvSpPr>
        <p:spPr>
          <a:xfrm>
            <a:off x="841248" y="3715512"/>
            <a:ext cx="10424160" cy="876300"/>
          </a:xfrm>
          <a:prstGeom prst="rect">
            <a:avLst/>
          </a:prstGeom>
          <a:noFill/>
        </p:spPr>
        <p:txBody>
          <a:bodyPr wrap="square" lIns="0" rIns="0" tIns="0">
            <a:spAutoFit/>
          </a:bodyPr>
          <a:lstStyle/>
          <a:p>
            <a:pPr>
              <a:defRPr sz="1600">
                <a:solidFill>
                  <a:srgbClr val="0D1C33"/>
                </a:solidFill>
                <a:latin typeface="Aptos"/>
              </a:defRPr>
            </a:pPr>
            <a:r>
              <a:t>Tarayıcı stil kurallarını işler, öğeler için hesaplanan stilleri bulur, yerleşimi hesaplar ve pikselleri çizer. DOM ile stil kuralları birlikte değerlendirilir; ardından tarayıcı her kutunun boyutunu ve yerini hesaplar.</a:t>
            </a:r>
          </a:p>
        </p:txBody>
      </p:sp>
      <p:sp>
        <p:nvSpPr>
          <p:cNvPr id="8" name="TextBox 7"/>
          <p:cNvSpPr txBox="1"/>
          <p:nvPr/>
        </p:nvSpPr>
        <p:spPr>
          <a:xfrm>
            <a:off x="841248" y="479755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Render blocking</a:t>
            </a:r>
          </a:p>
        </p:txBody>
      </p:sp>
      <p:sp>
        <p:nvSpPr>
          <p:cNvPr id="9" name="TextBox 8"/>
          <p:cNvSpPr txBox="1"/>
          <p:nvPr/>
        </p:nvSpPr>
        <p:spPr>
          <a:xfrm>
            <a:off x="841248" y="5209032"/>
            <a:ext cx="10424160" cy="876300"/>
          </a:xfrm>
          <a:prstGeom prst="rect">
            <a:avLst/>
          </a:prstGeom>
          <a:noFill/>
        </p:spPr>
        <p:txBody>
          <a:bodyPr wrap="square" lIns="0" rIns="0" tIns="0">
            <a:spAutoFit/>
          </a:bodyPr>
          <a:lstStyle/>
          <a:p>
            <a:pPr>
              <a:defRPr sz="1600">
                <a:solidFill>
                  <a:srgbClr val="0D1C33"/>
                </a:solidFill>
                <a:latin typeface="Aptos"/>
              </a:defRPr>
            </a:pPr>
            <a:r>
              <a:t>Normal CSS dosyaları ilk çizimi bekletebilir. Bu bekleme stilsiz içeriğin anlık görünmesini azaltır; her sayfada mutlaka beyaz ekran oluşmaz. İlk çizimin beklemesi, tarayıcının kullanıcıya yanlış yerleşimli bir ara görüntü göstermesini azaltabilir.</a:t>
            </a:r>
          </a:p>
        </p:txBody>
      </p:sp>
      <p:sp>
        <p:nvSpPr>
          <p:cNvPr id="10" name="TextBox 9"/>
          <p:cNvSpPr txBox="1"/>
          <p:nvPr/>
        </p:nvSpPr>
        <p:spPr>
          <a:xfrm>
            <a:off x="685800" y="6473952"/>
            <a:ext cx="91440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Sancak  /  Faz 1</a:t>
            </a:r>
          </a:p>
        </p:txBody>
      </p:sp>
      <p:sp>
        <p:nvSpPr>
          <p:cNvPr id="11" name="TextBox 10"/>
          <p:cNvSpPr txBox="1"/>
          <p:nvPr/>
        </p:nvSpPr>
        <p:spPr>
          <a:xfrm>
            <a:off x="11082528" y="6473952"/>
            <a:ext cx="4572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58368" y="292608"/>
            <a:ext cx="10058400" cy="320040"/>
          </a:xfrm>
          <a:prstGeom prst="rect">
            <a:avLst/>
          </a:prstGeom>
          <a:noFill/>
        </p:spPr>
        <p:txBody>
          <a:bodyPr wrap="square" lIns="0" rIns="0" tIns="0">
            <a:spAutoFit/>
          </a:bodyPr>
          <a:lstStyle/>
          <a:p>
            <a:pPr>
              <a:spcAft>
                <a:spcPts val="1000"/>
              </a:spcAft>
              <a:defRPr sz="1300" b="1">
                <a:solidFill>
                  <a:srgbClr val="1B899B"/>
                </a:solidFill>
                <a:latin typeface="Aptos"/>
              </a:defRPr>
            </a:pPr>
            <a:r>
              <a:t>TARAYICI MOTORU</a:t>
            </a:r>
          </a:p>
        </p:txBody>
      </p:sp>
      <p:sp>
        <p:nvSpPr>
          <p:cNvPr id="3" name="TextBox 2"/>
          <p:cNvSpPr txBox="1"/>
          <p:nvPr/>
        </p:nvSpPr>
        <p:spPr>
          <a:xfrm>
            <a:off x="658368" y="795528"/>
            <a:ext cx="10881360" cy="822960"/>
          </a:xfrm>
          <a:prstGeom prst="rect">
            <a:avLst/>
          </a:prstGeom>
          <a:noFill/>
        </p:spPr>
        <p:txBody>
          <a:bodyPr wrap="square" lIns="0" rIns="0" tIns="0">
            <a:spAutoFit/>
          </a:bodyPr>
          <a:lstStyle/>
          <a:p>
            <a:pPr>
              <a:spcAft>
                <a:spcPts val="1000"/>
              </a:spcAft>
              <a:defRPr sz="3200" b="1">
                <a:solidFill>
                  <a:srgbClr val="0D1C33"/>
                </a:solidFill>
                <a:latin typeface="Aptos"/>
              </a:defRPr>
            </a:pPr>
            <a:r>
              <a:t>Box Model ve yeniden hesaplama</a:t>
            </a:r>
          </a:p>
        </p:txBody>
      </p:sp>
      <p:sp>
        <p:nvSpPr>
          <p:cNvPr id="4" name="TextBox 3"/>
          <p:cNvSpPr txBox="1"/>
          <p:nvPr/>
        </p:nvSpPr>
        <p:spPr>
          <a:xfrm>
            <a:off x="841248" y="181051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Kutu modeli</a:t>
            </a:r>
          </a:p>
        </p:txBody>
      </p:sp>
      <p:sp>
        <p:nvSpPr>
          <p:cNvPr id="5" name="TextBox 4"/>
          <p:cNvSpPr txBox="1"/>
          <p:nvPr/>
        </p:nvSpPr>
        <p:spPr>
          <a:xfrm>
            <a:off x="841248" y="2221992"/>
            <a:ext cx="10424160" cy="876300"/>
          </a:xfrm>
          <a:prstGeom prst="rect">
            <a:avLst/>
          </a:prstGeom>
          <a:noFill/>
        </p:spPr>
        <p:txBody>
          <a:bodyPr wrap="square" lIns="0" rIns="0" tIns="0">
            <a:spAutoFit/>
          </a:bodyPr>
          <a:lstStyle/>
          <a:p>
            <a:pPr>
              <a:defRPr sz="1600">
                <a:solidFill>
                  <a:srgbClr val="0D1C33"/>
                </a:solidFill>
                <a:latin typeface="Aptos"/>
              </a:defRPr>
            </a:pPr>
            <a:r>
              <a:t>İçerik alanı, padding, border ve margin öğenin ekrandaki alanını ve komşularına uzaklığını belirler. Örneğin padding düğmenin içindeki yazı ile kenarlığı açar; margin düğmeyi yanındaki öğelerden uzaklaştırır.</a:t>
            </a:r>
          </a:p>
        </p:txBody>
      </p:sp>
      <p:sp>
        <p:nvSpPr>
          <p:cNvPr id="6" name="TextBox 5"/>
          <p:cNvSpPr txBox="1"/>
          <p:nvPr/>
        </p:nvSpPr>
        <p:spPr>
          <a:xfrm>
            <a:off x="841248" y="330403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Layout / reflow</a:t>
            </a:r>
          </a:p>
        </p:txBody>
      </p:sp>
      <p:sp>
        <p:nvSpPr>
          <p:cNvPr id="7" name="TextBox 6"/>
          <p:cNvSpPr txBox="1"/>
          <p:nvPr/>
        </p:nvSpPr>
        <p:spPr>
          <a:xfrm>
            <a:off x="841248" y="3715512"/>
            <a:ext cx="10424160" cy="876300"/>
          </a:xfrm>
          <a:prstGeom prst="rect">
            <a:avLst/>
          </a:prstGeom>
          <a:noFill/>
        </p:spPr>
        <p:txBody>
          <a:bodyPr wrap="square" lIns="0" rIns="0" tIns="0">
            <a:spAutoFit/>
          </a:bodyPr>
          <a:lstStyle/>
          <a:p>
            <a:pPr>
              <a:defRPr sz="1600">
                <a:solidFill>
                  <a:srgbClr val="0D1C33"/>
                </a:solidFill>
                <a:latin typeface="Aptos"/>
              </a:defRPr>
            </a:pPr>
            <a:r>
              <a:t>Genişlik gibi bir özellik değişirse tarayıcı bazı öğelerin konumunu yeniden hesaplayabilir. Etki değişikliğin kapsamına bağlıdır. Bir kartın genişliğini artırmak yanındaki kartların yerini de değiştirebilir; tarayıcı etkilenen alanı tekrar hesaplar.</a:t>
            </a:r>
          </a:p>
        </p:txBody>
      </p:sp>
      <p:sp>
        <p:nvSpPr>
          <p:cNvPr id="8" name="TextBox 7"/>
          <p:cNvSpPr txBox="1"/>
          <p:nvPr/>
        </p:nvSpPr>
        <p:spPr>
          <a:xfrm>
            <a:off x="841248" y="479755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Compositing ve GPU</a:t>
            </a:r>
          </a:p>
        </p:txBody>
      </p:sp>
      <p:sp>
        <p:nvSpPr>
          <p:cNvPr id="9" name="TextBox 8"/>
          <p:cNvSpPr txBox="1"/>
          <p:nvPr/>
        </p:nvSpPr>
        <p:spPr>
          <a:xfrm>
            <a:off x="841248" y="5209032"/>
            <a:ext cx="10424160" cy="876300"/>
          </a:xfrm>
          <a:prstGeom prst="rect">
            <a:avLst/>
          </a:prstGeom>
          <a:noFill/>
        </p:spPr>
        <p:txBody>
          <a:bodyPr wrap="square" lIns="0" rIns="0" tIns="0">
            <a:spAutoFit/>
          </a:bodyPr>
          <a:lstStyle/>
          <a:p>
            <a:pPr>
              <a:defRPr sz="1600">
                <a:solidFill>
                  <a:srgbClr val="0D1C33"/>
                </a:solidFill>
                <a:latin typeface="Aptos"/>
              </a:defRPr>
            </a:pPr>
            <a:r>
              <a:t>transform ve opacity gibi animasyonlar uygun koşullarda compositing katmanında işlenebilir. GPU kullanımı otomatik ve koşulsuz değildir. Akıcı animasyon için transform tercih edilebilir; yine de gerçek performansı tarayıcı araçlarıyla ölçmek gerekir.</a:t>
            </a:r>
          </a:p>
        </p:txBody>
      </p:sp>
      <p:sp>
        <p:nvSpPr>
          <p:cNvPr id="10" name="TextBox 9"/>
          <p:cNvSpPr txBox="1"/>
          <p:nvPr/>
        </p:nvSpPr>
        <p:spPr>
          <a:xfrm>
            <a:off x="685800" y="6473952"/>
            <a:ext cx="91440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Sancak  /  Faz 1</a:t>
            </a:r>
          </a:p>
        </p:txBody>
      </p:sp>
      <p:sp>
        <p:nvSpPr>
          <p:cNvPr id="11" name="TextBox 10"/>
          <p:cNvSpPr txBox="1"/>
          <p:nvPr/>
        </p:nvSpPr>
        <p:spPr>
          <a:xfrm>
            <a:off x="11082528" y="6473952"/>
            <a:ext cx="4572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D1C33"/>
        </a:solidFill>
        <a:effectLst/>
      </p:bgPr>
    </p:bg>
    <p:spTree>
      <p:nvGrpSpPr>
        <p:cNvPr id="1" name=""/>
        <p:cNvGrpSpPr/>
        <p:nvPr/>
      </p:nvGrpSpPr>
      <p:grpSpPr/>
      <p:sp>
        <p:nvSpPr>
          <p:cNvPr id="2" name="TextBox 1"/>
          <p:cNvSpPr txBox="1"/>
          <p:nvPr/>
        </p:nvSpPr>
        <p:spPr>
          <a:xfrm>
            <a:off x="822960" y="658368"/>
            <a:ext cx="9144000" cy="365760"/>
          </a:xfrm>
          <a:prstGeom prst="rect">
            <a:avLst/>
          </a:prstGeom>
          <a:noFill/>
        </p:spPr>
        <p:txBody>
          <a:bodyPr wrap="square" lIns="0" rIns="0" tIns="0">
            <a:spAutoFit/>
          </a:bodyPr>
          <a:lstStyle/>
          <a:p>
            <a:pPr>
              <a:spcAft>
                <a:spcPts val="1000"/>
              </a:spcAft>
              <a:defRPr sz="1500" b="1">
                <a:solidFill>
                  <a:srgbClr val="EBB74D"/>
                </a:solidFill>
                <a:latin typeface="Aptos"/>
              </a:defRPr>
            </a:pPr>
            <a:r>
              <a:t>BÖLÜM 04</a:t>
            </a:r>
          </a:p>
        </p:txBody>
      </p:sp>
      <p:sp>
        <p:nvSpPr>
          <p:cNvPr id="3" name="TextBox 2"/>
          <p:cNvSpPr txBox="1"/>
          <p:nvPr/>
        </p:nvSpPr>
        <p:spPr>
          <a:xfrm>
            <a:off x="822960" y="1481328"/>
            <a:ext cx="10424160" cy="2011680"/>
          </a:xfrm>
          <a:prstGeom prst="rect">
            <a:avLst/>
          </a:prstGeom>
          <a:noFill/>
        </p:spPr>
        <p:txBody>
          <a:bodyPr wrap="square" lIns="0" rIns="0" tIns="0">
            <a:spAutoFit/>
          </a:bodyPr>
          <a:lstStyle/>
          <a:p>
            <a:pPr>
              <a:spcAft>
                <a:spcPts val="1000"/>
              </a:spcAft>
              <a:defRPr sz="4400" b="1">
                <a:solidFill>
                  <a:srgbClr val="F8FAFD"/>
                </a:solidFill>
                <a:latin typeface="Aptos"/>
              </a:defRPr>
            </a:pPr>
            <a:r>
              <a:t>04 / JavaScript motoru</a:t>
            </a:r>
          </a:p>
        </p:txBody>
      </p:sp>
      <p:sp>
        <p:nvSpPr>
          <p:cNvPr id="4" name="TextBox 3"/>
          <p:cNvSpPr txBox="1"/>
          <p:nvPr/>
        </p:nvSpPr>
        <p:spPr>
          <a:xfrm>
            <a:off x="859536" y="3977639"/>
            <a:ext cx="9966960" cy="1097280"/>
          </a:xfrm>
          <a:prstGeom prst="rect">
            <a:avLst/>
          </a:prstGeom>
          <a:noFill/>
        </p:spPr>
        <p:txBody>
          <a:bodyPr wrap="square" lIns="0" rIns="0" tIns="0">
            <a:spAutoFit/>
          </a:bodyPr>
          <a:lstStyle/>
          <a:p>
            <a:pPr>
              <a:spcAft>
                <a:spcPts val="1000"/>
              </a:spcAft>
              <a:defRPr sz="2300" b="0">
                <a:solidFill>
                  <a:srgbClr val="F8FAFD"/>
                </a:solidFill>
                <a:latin typeface="Aptos"/>
              </a:defRPr>
            </a:pPr>
            <a:r>
              <a:t>Etkileşim, olaylar ve asenkron işlemler</a:t>
            </a:r>
          </a:p>
        </p:txBody>
      </p:sp>
      <p:sp>
        <p:nvSpPr>
          <p:cNvPr id="5" name="TextBox 4"/>
          <p:cNvSpPr txBox="1"/>
          <p:nvPr/>
        </p:nvSpPr>
        <p:spPr>
          <a:xfrm>
            <a:off x="859536" y="6245352"/>
            <a:ext cx="10058400" cy="274320"/>
          </a:xfrm>
          <a:prstGeom prst="rect">
            <a:avLst/>
          </a:prstGeom>
          <a:noFill/>
        </p:spPr>
        <p:txBody>
          <a:bodyPr wrap="square" lIns="0" rIns="0" tIns="0">
            <a:spAutoFit/>
          </a:bodyPr>
          <a:lstStyle/>
          <a:p>
            <a:pPr>
              <a:spcAft>
                <a:spcPts val="1000"/>
              </a:spcAft>
              <a:defRPr sz="1300" b="1">
                <a:solidFill>
                  <a:srgbClr val="EBB74D"/>
                </a:solidFill>
                <a:latin typeface="Aptos"/>
              </a:defRPr>
            </a:pPr>
            <a:r>
              <a:t>SANCAK  /  Getting Started Modules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58368" y="292608"/>
            <a:ext cx="10058400" cy="320040"/>
          </a:xfrm>
          <a:prstGeom prst="rect">
            <a:avLst/>
          </a:prstGeom>
          <a:noFill/>
        </p:spPr>
        <p:txBody>
          <a:bodyPr wrap="square" lIns="0" rIns="0" tIns="0">
            <a:spAutoFit/>
          </a:bodyPr>
          <a:lstStyle/>
          <a:p>
            <a:pPr>
              <a:spcAft>
                <a:spcPts val="1000"/>
              </a:spcAft>
              <a:defRPr sz="1300" b="1">
                <a:solidFill>
                  <a:srgbClr val="1B899B"/>
                </a:solidFill>
                <a:latin typeface="Aptos"/>
              </a:defRPr>
            </a:pPr>
            <a:r>
              <a:t>JAVASCRIPT MOTORU</a:t>
            </a:r>
          </a:p>
        </p:txBody>
      </p:sp>
      <p:sp>
        <p:nvSpPr>
          <p:cNvPr id="3" name="TextBox 2"/>
          <p:cNvSpPr txBox="1"/>
          <p:nvPr/>
        </p:nvSpPr>
        <p:spPr>
          <a:xfrm>
            <a:off x="658368" y="795528"/>
            <a:ext cx="10881360" cy="822960"/>
          </a:xfrm>
          <a:prstGeom prst="rect">
            <a:avLst/>
          </a:prstGeom>
          <a:noFill/>
        </p:spPr>
        <p:txBody>
          <a:bodyPr wrap="square" lIns="0" rIns="0" tIns="0">
            <a:spAutoFit/>
          </a:bodyPr>
          <a:lstStyle/>
          <a:p>
            <a:pPr>
              <a:spcAft>
                <a:spcPts val="1000"/>
              </a:spcAft>
              <a:defRPr sz="3200" b="1">
                <a:solidFill>
                  <a:srgbClr val="0D1C33"/>
                </a:solidFill>
                <a:latin typeface="Aptos"/>
              </a:defRPr>
            </a:pPr>
            <a:r>
              <a:t>JavaScript kodu nasıl çalışır?</a:t>
            </a:r>
          </a:p>
        </p:txBody>
      </p:sp>
      <p:sp>
        <p:nvSpPr>
          <p:cNvPr id="4" name="TextBox 3"/>
          <p:cNvSpPr txBox="1"/>
          <p:nvPr/>
        </p:nvSpPr>
        <p:spPr>
          <a:xfrm>
            <a:off x="841248" y="181051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Motor</a:t>
            </a:r>
          </a:p>
        </p:txBody>
      </p:sp>
      <p:sp>
        <p:nvSpPr>
          <p:cNvPr id="5" name="TextBox 4"/>
          <p:cNvSpPr txBox="1"/>
          <p:nvPr/>
        </p:nvSpPr>
        <p:spPr>
          <a:xfrm>
            <a:off x="841248" y="2221992"/>
            <a:ext cx="10424160" cy="876300"/>
          </a:xfrm>
          <a:prstGeom prst="rect">
            <a:avLst/>
          </a:prstGeom>
          <a:noFill/>
        </p:spPr>
        <p:txBody>
          <a:bodyPr wrap="square" lIns="0" rIns="0" tIns="0">
            <a:spAutoFit/>
          </a:bodyPr>
          <a:lstStyle/>
          <a:p>
            <a:pPr>
              <a:defRPr sz="1600">
                <a:solidFill>
                  <a:srgbClr val="0D1C33"/>
                </a:solidFill>
                <a:latin typeface="Aptos"/>
              </a:defRPr>
            </a:pPr>
            <a:r>
              <a:t>Tarayıcıdaki JavaScript motoru kaynak kodu ayrıştırır, çalıştırılabilir temsillere dönüştürür ve kodu yürütür. Örneğin bir düğmeye basılınca çalışan fonksiyon da aynı motor tarafından çözülüp yürütülür.</a:t>
            </a:r>
          </a:p>
        </p:txBody>
      </p:sp>
      <p:sp>
        <p:nvSpPr>
          <p:cNvPr id="6" name="TextBox 5"/>
          <p:cNvSpPr txBox="1"/>
          <p:nvPr/>
        </p:nvSpPr>
        <p:spPr>
          <a:xfrm>
            <a:off x="841248" y="330403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JIT</a:t>
            </a:r>
          </a:p>
        </p:txBody>
      </p:sp>
      <p:sp>
        <p:nvSpPr>
          <p:cNvPr id="7" name="TextBox 6"/>
          <p:cNvSpPr txBox="1"/>
          <p:nvPr/>
        </p:nvSpPr>
        <p:spPr>
          <a:xfrm>
            <a:off x="841248" y="3715512"/>
            <a:ext cx="10424160" cy="876300"/>
          </a:xfrm>
          <a:prstGeom prst="rect">
            <a:avLst/>
          </a:prstGeom>
          <a:noFill/>
        </p:spPr>
        <p:txBody>
          <a:bodyPr wrap="square" lIns="0" rIns="0" tIns="0">
            <a:spAutoFit/>
          </a:bodyPr>
          <a:lstStyle/>
          <a:p>
            <a:pPr>
              <a:defRPr sz="1600">
                <a:solidFill>
                  <a:srgbClr val="0D1C33"/>
                </a:solidFill>
                <a:latin typeface="Aptos"/>
              </a:defRPr>
            </a:pPr>
            <a:r>
              <a:t>Modern motorlar sık çalışan kodu çalışma sırasında optimize edip makine koduna derleyebilir. Her satırın aynı biçimde JIT derlendiğini varsaymayız. Motor, sık tekrar eden bir kodu optimize ederek sonraki çalıştırmalarını hızlandırabilir; her kod aynı kazancı sağlamaz.</a:t>
            </a:r>
          </a:p>
        </p:txBody>
      </p:sp>
      <p:sp>
        <p:nvSpPr>
          <p:cNvPr id="8" name="TextBox 7"/>
          <p:cNvSpPr txBox="1"/>
          <p:nvPr/>
        </p:nvSpPr>
        <p:spPr>
          <a:xfrm>
            <a:off x="841248" y="479755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Kullanım</a:t>
            </a:r>
          </a:p>
        </p:txBody>
      </p:sp>
      <p:sp>
        <p:nvSpPr>
          <p:cNvPr id="9" name="TextBox 8"/>
          <p:cNvSpPr txBox="1"/>
          <p:nvPr/>
        </p:nvSpPr>
        <p:spPr>
          <a:xfrm>
            <a:off x="841248" y="5209032"/>
            <a:ext cx="10424160" cy="876300"/>
          </a:xfrm>
          <a:prstGeom prst="rect">
            <a:avLst/>
          </a:prstGeom>
          <a:noFill/>
        </p:spPr>
        <p:txBody>
          <a:bodyPr wrap="square" lIns="0" rIns="0" tIns="0">
            <a:spAutoFit/>
          </a:bodyPr>
          <a:lstStyle/>
          <a:p>
            <a:pPr>
              <a:defRPr sz="1600">
                <a:solidFill>
                  <a:srgbClr val="0D1C33"/>
                </a:solidFill>
                <a:latin typeface="Aptos"/>
              </a:defRPr>
            </a:pPr>
            <a:r>
              <a:t>Değişkenler veriyi tutar; koşullar karar verir; fonksiyonlar tekrarlanan işleri bir araya getirir. Böylece kullanıcı eylemine göre metin değiştirmek veya veriyi yeniden göstermek mümkün olur.</a:t>
            </a:r>
          </a:p>
        </p:txBody>
      </p:sp>
      <p:sp>
        <p:nvSpPr>
          <p:cNvPr id="10" name="TextBox 9"/>
          <p:cNvSpPr txBox="1"/>
          <p:nvPr/>
        </p:nvSpPr>
        <p:spPr>
          <a:xfrm>
            <a:off x="685800" y="6473952"/>
            <a:ext cx="91440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Sancak  /  Faz 1</a:t>
            </a:r>
          </a:p>
        </p:txBody>
      </p:sp>
      <p:sp>
        <p:nvSpPr>
          <p:cNvPr id="11" name="TextBox 10"/>
          <p:cNvSpPr txBox="1"/>
          <p:nvPr/>
        </p:nvSpPr>
        <p:spPr>
          <a:xfrm>
            <a:off x="11082528" y="6473952"/>
            <a:ext cx="4572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58368" y="292608"/>
            <a:ext cx="10058400" cy="320040"/>
          </a:xfrm>
          <a:prstGeom prst="rect">
            <a:avLst/>
          </a:prstGeom>
          <a:noFill/>
        </p:spPr>
        <p:txBody>
          <a:bodyPr wrap="square" lIns="0" rIns="0" tIns="0">
            <a:spAutoFit/>
          </a:bodyPr>
          <a:lstStyle/>
          <a:p>
            <a:pPr>
              <a:spcAft>
                <a:spcPts val="1000"/>
              </a:spcAft>
              <a:defRPr sz="1300" b="1">
                <a:solidFill>
                  <a:srgbClr val="1B899B"/>
                </a:solidFill>
                <a:latin typeface="Aptos"/>
              </a:defRPr>
            </a:pPr>
            <a:r>
              <a:t>JAVASCRIPT MOTORU</a:t>
            </a:r>
          </a:p>
        </p:txBody>
      </p:sp>
      <p:sp>
        <p:nvSpPr>
          <p:cNvPr id="3" name="TextBox 2"/>
          <p:cNvSpPr txBox="1"/>
          <p:nvPr/>
        </p:nvSpPr>
        <p:spPr>
          <a:xfrm>
            <a:off x="658368" y="795528"/>
            <a:ext cx="10881360" cy="822960"/>
          </a:xfrm>
          <a:prstGeom prst="rect">
            <a:avLst/>
          </a:prstGeom>
          <a:noFill/>
        </p:spPr>
        <p:txBody>
          <a:bodyPr wrap="square" lIns="0" rIns="0" tIns="0">
            <a:spAutoFit/>
          </a:bodyPr>
          <a:lstStyle/>
          <a:p>
            <a:pPr>
              <a:spcAft>
                <a:spcPts val="1000"/>
              </a:spcAft>
              <a:defRPr sz="3200" b="1">
                <a:solidFill>
                  <a:srgbClr val="0D1C33"/>
                </a:solidFill>
                <a:latin typeface="Aptos"/>
              </a:defRPr>
            </a:pPr>
            <a:r>
              <a:t>Call Stack ve arayüzün donması</a:t>
            </a:r>
          </a:p>
        </p:txBody>
      </p:sp>
      <p:sp>
        <p:nvSpPr>
          <p:cNvPr id="4" name="TextBox 3"/>
          <p:cNvSpPr txBox="1"/>
          <p:nvPr/>
        </p:nvSpPr>
        <p:spPr>
          <a:xfrm>
            <a:off x="841248" y="181051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Çağrı yığını</a:t>
            </a:r>
          </a:p>
        </p:txBody>
      </p:sp>
      <p:sp>
        <p:nvSpPr>
          <p:cNvPr id="5" name="TextBox 4"/>
          <p:cNvSpPr txBox="1"/>
          <p:nvPr/>
        </p:nvSpPr>
        <p:spPr>
          <a:xfrm>
            <a:off x="841248" y="2221992"/>
            <a:ext cx="10424160" cy="876300"/>
          </a:xfrm>
          <a:prstGeom prst="rect">
            <a:avLst/>
          </a:prstGeom>
          <a:noFill/>
        </p:spPr>
        <p:txBody>
          <a:bodyPr wrap="square" lIns="0" rIns="0" tIns="0">
            <a:spAutoFit/>
          </a:bodyPr>
          <a:lstStyle/>
          <a:p>
            <a:pPr>
              <a:defRPr sz="1600">
                <a:solidFill>
                  <a:srgbClr val="0D1C33"/>
                </a:solidFill>
                <a:latin typeface="Aptos"/>
              </a:defRPr>
            </a:pPr>
            <a:r>
              <a:t>Fonksiyon çağrıları stack'e eklenir; biten çağrılar çıkar. Uzun süren senkron bir görev ana iş parçacığını meşgul edebilir. Örneğin milyonlarca kez çalışan bir döngü bitene kadar aynı iş parçacığı yeni tıklamaları işleyemeyebilir.</a:t>
            </a:r>
          </a:p>
        </p:txBody>
      </p:sp>
      <p:sp>
        <p:nvSpPr>
          <p:cNvPr id="6" name="TextBox 5"/>
          <p:cNvSpPr txBox="1"/>
          <p:nvPr/>
        </p:nvSpPr>
        <p:spPr>
          <a:xfrm>
            <a:off x="841248" y="330403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Ekrandaki etki</a:t>
            </a:r>
          </a:p>
        </p:txBody>
      </p:sp>
      <p:sp>
        <p:nvSpPr>
          <p:cNvPr id="7" name="TextBox 6"/>
          <p:cNvSpPr txBox="1"/>
          <p:nvPr/>
        </p:nvSpPr>
        <p:spPr>
          <a:xfrm>
            <a:off x="841248" y="3715512"/>
            <a:ext cx="10424160" cy="876300"/>
          </a:xfrm>
          <a:prstGeom prst="rect">
            <a:avLst/>
          </a:prstGeom>
          <a:noFill/>
        </p:spPr>
        <p:txBody>
          <a:bodyPr wrap="square" lIns="0" rIns="0" tIns="0">
            <a:spAutoFit/>
          </a:bodyPr>
          <a:lstStyle/>
          <a:p>
            <a:pPr>
              <a:defRPr sz="1600">
                <a:solidFill>
                  <a:srgbClr val="0D1C33"/>
                </a:solidFill>
                <a:latin typeface="Aptos"/>
              </a:defRPr>
            </a:pPr>
            <a:r>
              <a:t>Ana iş parçacığı yoğunken kullanıcı tıklamasına yanıt ve ekran güncellemesi gecikebilir. Bu sırada kullanıcı düğmeye basar ama sonuç gecikir; sorun düğmenin bozuk olmasından değil yoğun görevden kaynaklanır.</a:t>
            </a:r>
          </a:p>
        </p:txBody>
      </p:sp>
      <p:sp>
        <p:nvSpPr>
          <p:cNvPr id="8" name="TextBox 7"/>
          <p:cNvSpPr txBox="1"/>
          <p:nvPr/>
        </p:nvSpPr>
        <p:spPr>
          <a:xfrm>
            <a:off x="841248" y="479755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Nüans</a:t>
            </a:r>
          </a:p>
        </p:txBody>
      </p:sp>
      <p:sp>
        <p:nvSpPr>
          <p:cNvPr id="9" name="TextBox 8"/>
          <p:cNvSpPr txBox="1"/>
          <p:nvPr/>
        </p:nvSpPr>
        <p:spPr>
          <a:xfrm>
            <a:off x="841248" y="5209032"/>
            <a:ext cx="10424160" cy="876300"/>
          </a:xfrm>
          <a:prstGeom prst="rect">
            <a:avLst/>
          </a:prstGeom>
          <a:noFill/>
        </p:spPr>
        <p:txBody>
          <a:bodyPr wrap="square" lIns="0" rIns="0" tIns="0">
            <a:spAutoFit/>
          </a:bodyPr>
          <a:lstStyle/>
          <a:p>
            <a:pPr>
              <a:defRPr sz="1600">
                <a:solidFill>
                  <a:srgbClr val="0D1C33"/>
                </a:solidFill>
                <a:latin typeface="Aptos"/>
              </a:defRPr>
            </a:pPr>
            <a:r>
              <a:t>JavaScript ana sayfa bağlamında çoğunlukla tek iş parçacığında çalışır; Web Worker ayrı iş parçacığında kod çalıştırabilir. Büyük hesapları parçalara bölmek veya uygun işi Web Worker'a taşımak arayüzün yanıtını koruyabilir.</a:t>
            </a:r>
          </a:p>
        </p:txBody>
      </p:sp>
      <p:sp>
        <p:nvSpPr>
          <p:cNvPr id="10" name="TextBox 9"/>
          <p:cNvSpPr txBox="1"/>
          <p:nvPr/>
        </p:nvSpPr>
        <p:spPr>
          <a:xfrm>
            <a:off x="685800" y="6473952"/>
            <a:ext cx="91440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Sancak  /  Faz 1</a:t>
            </a:r>
          </a:p>
        </p:txBody>
      </p:sp>
      <p:sp>
        <p:nvSpPr>
          <p:cNvPr id="11" name="TextBox 10"/>
          <p:cNvSpPr txBox="1"/>
          <p:nvPr/>
        </p:nvSpPr>
        <p:spPr>
          <a:xfrm>
            <a:off x="11082528" y="6473952"/>
            <a:ext cx="4572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58368" y="292608"/>
            <a:ext cx="10058400" cy="320040"/>
          </a:xfrm>
          <a:prstGeom prst="rect">
            <a:avLst/>
          </a:prstGeom>
          <a:noFill/>
        </p:spPr>
        <p:txBody>
          <a:bodyPr wrap="square" lIns="0" rIns="0" tIns="0">
            <a:spAutoFit/>
          </a:bodyPr>
          <a:lstStyle/>
          <a:p>
            <a:pPr>
              <a:spcAft>
                <a:spcPts val="1000"/>
              </a:spcAft>
              <a:defRPr sz="1300" b="1">
                <a:solidFill>
                  <a:srgbClr val="1B899B"/>
                </a:solidFill>
                <a:latin typeface="Aptos"/>
              </a:defRPr>
            </a:pPr>
            <a:r>
              <a:t>JAVASCRIPT MOTORU</a:t>
            </a:r>
          </a:p>
        </p:txBody>
      </p:sp>
      <p:sp>
        <p:nvSpPr>
          <p:cNvPr id="3" name="TextBox 2"/>
          <p:cNvSpPr txBox="1"/>
          <p:nvPr/>
        </p:nvSpPr>
        <p:spPr>
          <a:xfrm>
            <a:off x="658368" y="795528"/>
            <a:ext cx="10881360" cy="822960"/>
          </a:xfrm>
          <a:prstGeom prst="rect">
            <a:avLst/>
          </a:prstGeom>
          <a:noFill/>
        </p:spPr>
        <p:txBody>
          <a:bodyPr wrap="square" lIns="0" rIns="0" tIns="0">
            <a:spAutoFit/>
          </a:bodyPr>
          <a:lstStyle/>
          <a:p>
            <a:pPr>
              <a:spcAft>
                <a:spcPts val="1000"/>
              </a:spcAft>
              <a:defRPr sz="3200" b="1">
                <a:solidFill>
                  <a:srgbClr val="0D1C33"/>
                </a:solidFill>
                <a:latin typeface="Aptos"/>
              </a:defRPr>
            </a:pPr>
            <a:r>
              <a:t>Event Loop: Beklerken sayfa neden çalışır?</a:t>
            </a:r>
          </a:p>
        </p:txBody>
      </p:sp>
      <p:sp>
        <p:nvSpPr>
          <p:cNvPr id="4" name="TextBox 3"/>
          <p:cNvSpPr txBox="1"/>
          <p:nvPr/>
        </p:nvSpPr>
        <p:spPr>
          <a:xfrm>
            <a:off x="841248" y="181051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Asenkron işlem</a:t>
            </a:r>
          </a:p>
        </p:txBody>
      </p:sp>
      <p:sp>
        <p:nvSpPr>
          <p:cNvPr id="5" name="TextBox 4"/>
          <p:cNvSpPr txBox="1"/>
          <p:nvPr/>
        </p:nvSpPr>
        <p:spPr>
          <a:xfrm>
            <a:off x="841248" y="2221992"/>
            <a:ext cx="10424160" cy="876300"/>
          </a:xfrm>
          <a:prstGeom prst="rect">
            <a:avLst/>
          </a:prstGeom>
          <a:noFill/>
        </p:spPr>
        <p:txBody>
          <a:bodyPr wrap="square" lIns="0" rIns="0" tIns="0">
            <a:spAutoFit/>
          </a:bodyPr>
          <a:lstStyle/>
          <a:p>
            <a:pPr>
              <a:defRPr sz="1600">
                <a:solidFill>
                  <a:srgbClr val="0D1C33"/>
                </a:solidFill>
                <a:latin typeface="Aptos"/>
              </a:defRPr>
            </a:pPr>
            <a:r>
              <a:t>fetch veya zamanlayıcı gibi işler tarayıcının ilgili mekanizmalarına devredilir; JavaScript sırf yanıt beklemek için stack'i bloke etmez. Örneğin fetch isteği sürerken kullanıcı sayfayı kaydırabilir; sonuç geldiğinde ilgili kod daha sonra çalışır.</a:t>
            </a:r>
          </a:p>
        </p:txBody>
      </p:sp>
      <p:sp>
        <p:nvSpPr>
          <p:cNvPr id="6" name="TextBox 5"/>
          <p:cNvSpPr txBox="1"/>
          <p:nvPr/>
        </p:nvSpPr>
        <p:spPr>
          <a:xfrm>
            <a:off x="841248" y="330403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Kuyruk ve olay döngüsü</a:t>
            </a:r>
          </a:p>
        </p:txBody>
      </p:sp>
      <p:sp>
        <p:nvSpPr>
          <p:cNvPr id="7" name="TextBox 6"/>
          <p:cNvSpPr txBox="1"/>
          <p:nvPr/>
        </p:nvSpPr>
        <p:spPr>
          <a:xfrm>
            <a:off x="841248" y="3715512"/>
            <a:ext cx="10424160" cy="876300"/>
          </a:xfrm>
          <a:prstGeom prst="rect">
            <a:avLst/>
          </a:prstGeom>
          <a:noFill/>
        </p:spPr>
        <p:txBody>
          <a:bodyPr wrap="square" lIns="0" rIns="0" tIns="0">
            <a:spAutoFit/>
          </a:bodyPr>
          <a:lstStyle/>
          <a:p>
            <a:pPr>
              <a:defRPr sz="1600">
                <a:solidFill>
                  <a:srgbClr val="0D1C33"/>
                </a:solidFill>
                <a:latin typeface="Aptos"/>
              </a:defRPr>
            </a:pPr>
            <a:r>
              <a:t>İşlem hazır olduğunda görevi uygun kuyruğa alınır. Event loop, stack uygun olduğunda sıradaki işi çalıştırır. Event loop, bekleyen işleri belirli kurallarla sıraya alır; tüm işlemler aynı anda ana iş parçacığında çalışmaz.</a:t>
            </a:r>
          </a:p>
        </p:txBody>
      </p:sp>
      <p:sp>
        <p:nvSpPr>
          <p:cNvPr id="8" name="TextBox 7"/>
          <p:cNvSpPr txBox="1"/>
          <p:nvPr/>
        </p:nvSpPr>
        <p:spPr>
          <a:xfrm>
            <a:off x="841248" y="479755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Sınır</a:t>
            </a:r>
          </a:p>
        </p:txBody>
      </p:sp>
      <p:sp>
        <p:nvSpPr>
          <p:cNvPr id="9" name="TextBox 8"/>
          <p:cNvSpPr txBox="1"/>
          <p:nvPr/>
        </p:nvSpPr>
        <p:spPr>
          <a:xfrm>
            <a:off x="841248" y="5209032"/>
            <a:ext cx="10424160" cy="876300"/>
          </a:xfrm>
          <a:prstGeom prst="rect">
            <a:avLst/>
          </a:prstGeom>
          <a:noFill/>
        </p:spPr>
        <p:txBody>
          <a:bodyPr wrap="square" lIns="0" rIns="0" tIns="0">
            <a:spAutoFit/>
          </a:bodyPr>
          <a:lstStyle/>
          <a:p>
            <a:pPr>
              <a:defRPr sz="1600">
                <a:solidFill>
                  <a:srgbClr val="0D1C33"/>
                </a:solidFill>
                <a:latin typeface="Aptos"/>
              </a:defRPr>
            </a:pPr>
            <a:r>
              <a:t>Ağ beklemek sayfayı dondurmaz; uzun bir senkron hesaplama yine kullanıcı arayüzünü geciktirebilir. Bu mekanizma hesaplama yükünü sihirli biçimde ortadan kaldırmaz; ağır bir döngü yine ana iş parçacığını kaplar.</a:t>
            </a:r>
          </a:p>
        </p:txBody>
      </p:sp>
      <p:sp>
        <p:nvSpPr>
          <p:cNvPr id="10" name="TextBox 9"/>
          <p:cNvSpPr txBox="1"/>
          <p:nvPr/>
        </p:nvSpPr>
        <p:spPr>
          <a:xfrm>
            <a:off x="685800" y="6473952"/>
            <a:ext cx="91440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Sancak  /  Faz 1</a:t>
            </a:r>
          </a:p>
        </p:txBody>
      </p:sp>
      <p:sp>
        <p:nvSpPr>
          <p:cNvPr id="11" name="TextBox 10"/>
          <p:cNvSpPr txBox="1"/>
          <p:nvPr/>
        </p:nvSpPr>
        <p:spPr>
          <a:xfrm>
            <a:off x="11082528" y="6473952"/>
            <a:ext cx="4572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58368" y="292608"/>
            <a:ext cx="10058400" cy="320040"/>
          </a:xfrm>
          <a:prstGeom prst="rect">
            <a:avLst/>
          </a:prstGeom>
          <a:noFill/>
        </p:spPr>
        <p:txBody>
          <a:bodyPr wrap="square" lIns="0" rIns="0" tIns="0">
            <a:spAutoFit/>
          </a:bodyPr>
          <a:lstStyle/>
          <a:p>
            <a:pPr>
              <a:spcAft>
                <a:spcPts val="1000"/>
              </a:spcAft>
              <a:defRPr sz="1300" b="1">
                <a:solidFill>
                  <a:srgbClr val="1B899B"/>
                </a:solidFill>
                <a:latin typeface="Aptos"/>
              </a:defRPr>
            </a:pPr>
            <a:r>
              <a:t>JAVASCRIPT MOTORU</a:t>
            </a:r>
          </a:p>
        </p:txBody>
      </p:sp>
      <p:sp>
        <p:nvSpPr>
          <p:cNvPr id="3" name="TextBox 2"/>
          <p:cNvSpPr txBox="1"/>
          <p:nvPr/>
        </p:nvSpPr>
        <p:spPr>
          <a:xfrm>
            <a:off x="658368" y="795528"/>
            <a:ext cx="10881360" cy="822960"/>
          </a:xfrm>
          <a:prstGeom prst="rect">
            <a:avLst/>
          </a:prstGeom>
          <a:noFill/>
        </p:spPr>
        <p:txBody>
          <a:bodyPr wrap="square" lIns="0" rIns="0" tIns="0">
            <a:spAutoFit/>
          </a:bodyPr>
          <a:lstStyle/>
          <a:p>
            <a:pPr>
              <a:spcAft>
                <a:spcPts val="1000"/>
              </a:spcAft>
              <a:defRPr sz="3200" b="1">
                <a:solidFill>
                  <a:srgbClr val="0D1C33"/>
                </a:solidFill>
                <a:latin typeface="Aptos"/>
              </a:defRPr>
            </a:pPr>
            <a:r>
              <a:t>JavaScript ve DOM ilişkisi</a:t>
            </a:r>
          </a:p>
        </p:txBody>
      </p:sp>
      <p:sp>
        <p:nvSpPr>
          <p:cNvPr id="4" name="TextBox 3"/>
          <p:cNvSpPr txBox="1"/>
          <p:nvPr/>
        </p:nvSpPr>
        <p:spPr>
          <a:xfrm>
            <a:off x="841248" y="181051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Tarayıcı API'si</a:t>
            </a:r>
          </a:p>
        </p:txBody>
      </p:sp>
      <p:sp>
        <p:nvSpPr>
          <p:cNvPr id="5" name="TextBox 4"/>
          <p:cNvSpPr txBox="1"/>
          <p:nvPr/>
        </p:nvSpPr>
        <p:spPr>
          <a:xfrm>
            <a:off x="841248" y="2221992"/>
            <a:ext cx="10424160" cy="876300"/>
          </a:xfrm>
          <a:prstGeom prst="rect">
            <a:avLst/>
          </a:prstGeom>
          <a:noFill/>
        </p:spPr>
        <p:txBody>
          <a:bodyPr wrap="square" lIns="0" rIns="0" tIns="0">
            <a:spAutoFit/>
          </a:bodyPr>
          <a:lstStyle/>
          <a:p>
            <a:pPr>
              <a:defRPr sz="1600">
                <a:solidFill>
                  <a:srgbClr val="0D1C33"/>
                </a:solidFill>
                <a:latin typeface="Aptos"/>
              </a:defRPr>
            </a:pPr>
            <a:r>
              <a:t>DOM, JavaScript dilinin kendi parçası değildir; tarayıcı document gibi API'lerle ona erişim sağlar. Örneğin document.querySelector('#sonuc') tarayıcının sunduğu DOM API'siyle ilgili öğeyi bulur.</a:t>
            </a:r>
          </a:p>
        </p:txBody>
      </p:sp>
      <p:sp>
        <p:nvSpPr>
          <p:cNvPr id="6" name="TextBox 5"/>
          <p:cNvSpPr txBox="1"/>
          <p:nvPr/>
        </p:nvSpPr>
        <p:spPr>
          <a:xfrm>
            <a:off x="841248" y="330403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Değişiklik</a:t>
            </a:r>
          </a:p>
        </p:txBody>
      </p:sp>
      <p:sp>
        <p:nvSpPr>
          <p:cNvPr id="7" name="TextBox 6"/>
          <p:cNvSpPr txBox="1"/>
          <p:nvPr/>
        </p:nvSpPr>
        <p:spPr>
          <a:xfrm>
            <a:off x="841248" y="3715512"/>
            <a:ext cx="10424160" cy="876300"/>
          </a:xfrm>
          <a:prstGeom prst="rect">
            <a:avLst/>
          </a:prstGeom>
          <a:noFill/>
        </p:spPr>
        <p:txBody>
          <a:bodyPr wrap="square" lIns="0" rIns="0" tIns="0">
            <a:spAutoFit/>
          </a:bodyPr>
          <a:lstStyle/>
          <a:p>
            <a:pPr>
              <a:defRPr sz="1600">
                <a:solidFill>
                  <a:srgbClr val="0D1C33"/>
                </a:solidFill>
                <a:latin typeface="Aptos"/>
              </a:defRPr>
            </a:pPr>
            <a:r>
              <a:t>Bir metni veya sınıfı değiştirince tarayıcı gereken stil, yerleşim ve çizim işlerini yeniden yapabilir. Metin değişikliği bazen yalnızca boyamayı, boyut değişikliği ise yerleşimi de yeniden hesaplamayı gerektirir.</a:t>
            </a:r>
          </a:p>
        </p:txBody>
      </p:sp>
      <p:sp>
        <p:nvSpPr>
          <p:cNvPr id="8" name="TextBox 7"/>
          <p:cNvSpPr txBox="1"/>
          <p:nvPr/>
        </p:nvSpPr>
        <p:spPr>
          <a:xfrm>
            <a:off x="841248" y="479755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Performans</a:t>
            </a:r>
          </a:p>
        </p:txBody>
      </p:sp>
      <p:sp>
        <p:nvSpPr>
          <p:cNvPr id="9" name="TextBox 8"/>
          <p:cNvSpPr txBox="1"/>
          <p:nvPr/>
        </p:nvSpPr>
        <p:spPr>
          <a:xfrm>
            <a:off x="841248" y="5209032"/>
            <a:ext cx="10424160" cy="876300"/>
          </a:xfrm>
          <a:prstGeom prst="rect">
            <a:avLst/>
          </a:prstGeom>
          <a:noFill/>
        </p:spPr>
        <p:txBody>
          <a:bodyPr wrap="square" lIns="0" rIns="0" tIns="0">
            <a:spAutoFit/>
          </a:bodyPr>
          <a:lstStyle/>
          <a:p>
            <a:pPr>
              <a:defRPr sz="1600">
                <a:solidFill>
                  <a:srgbClr val="0D1C33"/>
                </a:solidFill>
                <a:latin typeface="Aptos"/>
              </a:defRPr>
            </a:pPr>
            <a:r>
              <a:t>Her DOM erişimi başlı başına pahalı değildir. Çok sık ve ölçümü zorlayan değişiklikler performans sorunu yaratabilir. Gereksiz tekrarlı ölçüm ve değişiklikleri azaltmak, özellikle büyük sayfalarda daha akıcı davranış sağlayabilir.</a:t>
            </a:r>
          </a:p>
        </p:txBody>
      </p:sp>
      <p:sp>
        <p:nvSpPr>
          <p:cNvPr id="10" name="TextBox 9"/>
          <p:cNvSpPr txBox="1"/>
          <p:nvPr/>
        </p:nvSpPr>
        <p:spPr>
          <a:xfrm>
            <a:off x="685800" y="6473952"/>
            <a:ext cx="91440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Sancak  /  Faz 1</a:t>
            </a:r>
          </a:p>
        </p:txBody>
      </p:sp>
      <p:sp>
        <p:nvSpPr>
          <p:cNvPr id="11" name="TextBox 10"/>
          <p:cNvSpPr txBox="1"/>
          <p:nvPr/>
        </p:nvSpPr>
        <p:spPr>
          <a:xfrm>
            <a:off x="11082528" y="6473952"/>
            <a:ext cx="4572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58368" y="292608"/>
            <a:ext cx="10058400" cy="320040"/>
          </a:xfrm>
          <a:prstGeom prst="rect">
            <a:avLst/>
          </a:prstGeom>
          <a:noFill/>
        </p:spPr>
        <p:txBody>
          <a:bodyPr wrap="square" lIns="0" rIns="0" tIns="0">
            <a:spAutoFit/>
          </a:bodyPr>
          <a:lstStyle/>
          <a:p>
            <a:pPr>
              <a:spcAft>
                <a:spcPts val="1000"/>
              </a:spcAft>
              <a:defRPr sz="1300" b="1">
                <a:solidFill>
                  <a:srgbClr val="1B899B"/>
                </a:solidFill>
                <a:latin typeface="Aptos"/>
              </a:defRPr>
            </a:pPr>
            <a:r>
              <a:t>JAVASCRIPT MOTORU</a:t>
            </a:r>
          </a:p>
        </p:txBody>
      </p:sp>
      <p:sp>
        <p:nvSpPr>
          <p:cNvPr id="3" name="TextBox 2"/>
          <p:cNvSpPr txBox="1"/>
          <p:nvPr/>
        </p:nvSpPr>
        <p:spPr>
          <a:xfrm>
            <a:off x="658368" y="795528"/>
            <a:ext cx="10881360" cy="822960"/>
          </a:xfrm>
          <a:prstGeom prst="rect">
            <a:avLst/>
          </a:prstGeom>
          <a:noFill/>
        </p:spPr>
        <p:txBody>
          <a:bodyPr wrap="square" lIns="0" rIns="0" tIns="0">
            <a:spAutoFit/>
          </a:bodyPr>
          <a:lstStyle/>
          <a:p>
            <a:pPr>
              <a:spcAft>
                <a:spcPts val="1000"/>
              </a:spcAft>
              <a:defRPr sz="3200" b="1">
                <a:solidFill>
                  <a:srgbClr val="0D1C33"/>
                </a:solidFill>
                <a:latin typeface="Aptos"/>
              </a:defRPr>
            </a:pPr>
            <a:r>
              <a:t>Küçük bir etkileşim örneği</a:t>
            </a:r>
          </a:p>
        </p:txBody>
      </p:sp>
      <p:sp>
        <p:nvSpPr>
          <p:cNvPr id="4" name="TextBox 3"/>
          <p:cNvSpPr txBox="1"/>
          <p:nvPr/>
        </p:nvSpPr>
        <p:spPr>
          <a:xfrm>
            <a:off x="841248" y="181051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HTML</a:t>
            </a:r>
          </a:p>
        </p:txBody>
      </p:sp>
      <p:sp>
        <p:nvSpPr>
          <p:cNvPr id="5" name="TextBox 4"/>
          <p:cNvSpPr txBox="1"/>
          <p:nvPr/>
        </p:nvSpPr>
        <p:spPr>
          <a:xfrm>
            <a:off x="841248" y="2221992"/>
            <a:ext cx="10424160" cy="876300"/>
          </a:xfrm>
          <a:prstGeom prst="rect">
            <a:avLst/>
          </a:prstGeom>
          <a:noFill/>
        </p:spPr>
        <p:txBody>
          <a:bodyPr wrap="square" lIns="0" rIns="0" tIns="0">
            <a:spAutoFit/>
          </a:bodyPr>
          <a:lstStyle/>
          <a:p>
            <a:pPr>
              <a:defRPr sz="1600">
                <a:solidFill>
                  <a:srgbClr val="0D1C33"/>
                </a:solidFill>
                <a:latin typeface="Aptos"/>
              </a:defRPr>
            </a:pPr>
            <a:r>
              <a:t>&lt;button id="btn"&gt;Tıkla&lt;/button&gt; ve &lt;p id="sonuc"&gt;Hazır&lt;/p&gt; öğelerini ekle. İlk satırdaki id değerleri JavaScript'in hangi düğme ve paragrafla çalışacağını gösteren benzersiz işaretlerdir.</a:t>
            </a:r>
          </a:p>
        </p:txBody>
      </p:sp>
      <p:sp>
        <p:nvSpPr>
          <p:cNvPr id="6" name="TextBox 5"/>
          <p:cNvSpPr txBox="1"/>
          <p:nvPr/>
        </p:nvSpPr>
        <p:spPr>
          <a:xfrm>
            <a:off x="841248" y="330403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JavaScript</a:t>
            </a:r>
          </a:p>
        </p:txBody>
      </p:sp>
      <p:sp>
        <p:nvSpPr>
          <p:cNvPr id="7" name="TextBox 6"/>
          <p:cNvSpPr txBox="1"/>
          <p:nvPr/>
        </p:nvSpPr>
        <p:spPr>
          <a:xfrm>
            <a:off x="841248" y="3715512"/>
            <a:ext cx="10424160" cy="876300"/>
          </a:xfrm>
          <a:prstGeom prst="rect">
            <a:avLst/>
          </a:prstGeom>
          <a:noFill/>
        </p:spPr>
        <p:txBody>
          <a:bodyPr wrap="square" lIns="0" rIns="0" tIns="0">
            <a:spAutoFit/>
          </a:bodyPr>
          <a:lstStyle/>
          <a:p>
            <a:pPr>
              <a:defRPr sz="1600">
                <a:solidFill>
                  <a:srgbClr val="0D1C33"/>
                </a:solidFill>
                <a:latin typeface="Aptos"/>
              </a:defRPr>
            </a:pPr>
            <a:r>
              <a:t>document.querySelector('#btn').addEventListener('click', () =&gt; { document.querySelector('#sonuc').textContent = 'Merhaba!'; }); addEventListener bir tıklama gerçekleştiğinde çağrılacak fonksiyonu kaydeder; kod düğmeye basılmadan metni değiştirmez.</a:t>
            </a:r>
          </a:p>
        </p:txBody>
      </p:sp>
      <p:sp>
        <p:nvSpPr>
          <p:cNvPr id="8" name="TextBox 7"/>
          <p:cNvSpPr txBox="1"/>
          <p:nvPr/>
        </p:nvSpPr>
        <p:spPr>
          <a:xfrm>
            <a:off x="841248" y="479755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Ne gerçekleşir?</a:t>
            </a:r>
          </a:p>
        </p:txBody>
      </p:sp>
      <p:sp>
        <p:nvSpPr>
          <p:cNvPr id="9" name="TextBox 8"/>
          <p:cNvSpPr txBox="1"/>
          <p:nvPr/>
        </p:nvSpPr>
        <p:spPr>
          <a:xfrm>
            <a:off x="841248" y="5209032"/>
            <a:ext cx="10424160" cy="876300"/>
          </a:xfrm>
          <a:prstGeom prst="rect">
            <a:avLst/>
          </a:prstGeom>
          <a:noFill/>
        </p:spPr>
        <p:txBody>
          <a:bodyPr wrap="square" lIns="0" rIns="0" tIns="0">
            <a:spAutoFit/>
          </a:bodyPr>
          <a:lstStyle/>
          <a:p>
            <a:pPr>
              <a:defRPr sz="1600">
                <a:solidFill>
                  <a:srgbClr val="0D1C33"/>
                </a:solidFill>
                <a:latin typeface="Aptos"/>
              </a:defRPr>
            </a:pPr>
            <a:r>
              <a:t>Tıklama olayı fonksiyonu tetikler. Fonksiyon DOM'daki paragraf metnini değiştirir. textContent yeni metni paragrafın içine yerleştirir ve değişiklik sayfayı yeniden yüklemeden görünür.</a:t>
            </a:r>
          </a:p>
        </p:txBody>
      </p:sp>
      <p:sp>
        <p:nvSpPr>
          <p:cNvPr id="10" name="TextBox 9"/>
          <p:cNvSpPr txBox="1"/>
          <p:nvPr/>
        </p:nvSpPr>
        <p:spPr>
          <a:xfrm>
            <a:off x="685800" y="6473952"/>
            <a:ext cx="91440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Sancak  /  Faz 1</a:t>
            </a:r>
          </a:p>
        </p:txBody>
      </p:sp>
      <p:sp>
        <p:nvSpPr>
          <p:cNvPr id="11" name="TextBox 10"/>
          <p:cNvSpPr txBox="1"/>
          <p:nvPr/>
        </p:nvSpPr>
        <p:spPr>
          <a:xfrm>
            <a:off x="11082528" y="6473952"/>
            <a:ext cx="4572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D1C33"/>
        </a:solidFill>
        <a:effectLst/>
      </p:bgPr>
    </p:bg>
    <p:spTree>
      <p:nvGrpSpPr>
        <p:cNvPr id="1" name=""/>
        <p:cNvGrpSpPr/>
        <p:nvPr/>
      </p:nvGrpSpPr>
      <p:grpSpPr/>
      <p:sp>
        <p:nvSpPr>
          <p:cNvPr id="2" name="TextBox 1"/>
          <p:cNvSpPr txBox="1"/>
          <p:nvPr/>
        </p:nvSpPr>
        <p:spPr>
          <a:xfrm>
            <a:off x="822960" y="658368"/>
            <a:ext cx="9144000" cy="365760"/>
          </a:xfrm>
          <a:prstGeom prst="rect">
            <a:avLst/>
          </a:prstGeom>
          <a:noFill/>
        </p:spPr>
        <p:txBody>
          <a:bodyPr wrap="square" lIns="0" rIns="0" tIns="0">
            <a:spAutoFit/>
          </a:bodyPr>
          <a:lstStyle/>
          <a:p>
            <a:pPr>
              <a:spcAft>
                <a:spcPts val="1000"/>
              </a:spcAft>
              <a:defRPr sz="1500" b="1">
                <a:solidFill>
                  <a:srgbClr val="EBB74D"/>
                </a:solidFill>
                <a:latin typeface="Aptos"/>
              </a:defRPr>
            </a:pPr>
            <a:r>
              <a:t>BÖLÜM 05</a:t>
            </a:r>
          </a:p>
        </p:txBody>
      </p:sp>
      <p:sp>
        <p:nvSpPr>
          <p:cNvPr id="3" name="TextBox 2"/>
          <p:cNvSpPr txBox="1"/>
          <p:nvPr/>
        </p:nvSpPr>
        <p:spPr>
          <a:xfrm>
            <a:off x="822960" y="1481328"/>
            <a:ext cx="10424160" cy="2011680"/>
          </a:xfrm>
          <a:prstGeom prst="rect">
            <a:avLst/>
          </a:prstGeom>
          <a:noFill/>
        </p:spPr>
        <p:txBody>
          <a:bodyPr wrap="square" lIns="0" rIns="0" tIns="0">
            <a:spAutoFit/>
          </a:bodyPr>
          <a:lstStyle/>
          <a:p>
            <a:pPr>
              <a:spcAft>
                <a:spcPts val="1000"/>
              </a:spcAft>
              <a:defRPr sz="4400" b="1">
                <a:solidFill>
                  <a:srgbClr val="F8FAFD"/>
                </a:solidFill>
                <a:latin typeface="Aptos"/>
              </a:defRPr>
            </a:pPr>
            <a:r>
              <a:t>05 / Yayınlama</a:t>
            </a:r>
          </a:p>
        </p:txBody>
      </p:sp>
      <p:sp>
        <p:nvSpPr>
          <p:cNvPr id="4" name="TextBox 3"/>
          <p:cNvSpPr txBox="1"/>
          <p:nvPr/>
        </p:nvSpPr>
        <p:spPr>
          <a:xfrm>
            <a:off x="859536" y="3977639"/>
            <a:ext cx="9966960" cy="1097280"/>
          </a:xfrm>
          <a:prstGeom prst="rect">
            <a:avLst/>
          </a:prstGeom>
          <a:noFill/>
        </p:spPr>
        <p:txBody>
          <a:bodyPr wrap="square" lIns="0" rIns="0" tIns="0">
            <a:spAutoFit/>
          </a:bodyPr>
          <a:lstStyle/>
          <a:p>
            <a:pPr>
              <a:spcAft>
                <a:spcPts val="1000"/>
              </a:spcAft>
              <a:defRPr sz="2300" b="0">
                <a:solidFill>
                  <a:srgbClr val="F8FAFD"/>
                </a:solidFill>
                <a:latin typeface="Aptos"/>
              </a:defRPr>
            </a:pPr>
            <a:r>
              <a:t>Yerel projeyi herkesin erişebileceği bir siteye dönüştürme</a:t>
            </a:r>
          </a:p>
        </p:txBody>
      </p:sp>
      <p:sp>
        <p:nvSpPr>
          <p:cNvPr id="5" name="TextBox 4"/>
          <p:cNvSpPr txBox="1"/>
          <p:nvPr/>
        </p:nvSpPr>
        <p:spPr>
          <a:xfrm>
            <a:off x="859536" y="6245352"/>
            <a:ext cx="10058400" cy="274320"/>
          </a:xfrm>
          <a:prstGeom prst="rect">
            <a:avLst/>
          </a:prstGeom>
          <a:noFill/>
        </p:spPr>
        <p:txBody>
          <a:bodyPr wrap="square" lIns="0" rIns="0" tIns="0">
            <a:spAutoFit/>
          </a:bodyPr>
          <a:lstStyle/>
          <a:p>
            <a:pPr>
              <a:spcAft>
                <a:spcPts val="1000"/>
              </a:spcAft>
              <a:defRPr sz="1300" b="1">
                <a:solidFill>
                  <a:srgbClr val="EBB74D"/>
                </a:solidFill>
                <a:latin typeface="Aptos"/>
              </a:defRPr>
            </a:pPr>
            <a:r>
              <a:t>SANCAK  /  Getting Started Modules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58368" y="292608"/>
            <a:ext cx="10058400" cy="320040"/>
          </a:xfrm>
          <a:prstGeom prst="rect">
            <a:avLst/>
          </a:prstGeom>
          <a:noFill/>
        </p:spPr>
        <p:txBody>
          <a:bodyPr wrap="square" lIns="0" rIns="0" tIns="0">
            <a:spAutoFit/>
          </a:bodyPr>
          <a:lstStyle/>
          <a:p>
            <a:pPr>
              <a:spcAft>
                <a:spcPts val="1000"/>
              </a:spcAft>
              <a:defRPr sz="1300" b="1">
                <a:solidFill>
                  <a:srgbClr val="1B899B"/>
                </a:solidFill>
                <a:latin typeface="Aptos"/>
              </a:defRPr>
            </a:pPr>
            <a:r>
              <a:t>YAYINLAMA</a:t>
            </a:r>
          </a:p>
        </p:txBody>
      </p:sp>
      <p:sp>
        <p:nvSpPr>
          <p:cNvPr id="3" name="TextBox 2"/>
          <p:cNvSpPr txBox="1"/>
          <p:nvPr/>
        </p:nvSpPr>
        <p:spPr>
          <a:xfrm>
            <a:off x="658368" y="795528"/>
            <a:ext cx="10881360" cy="822960"/>
          </a:xfrm>
          <a:prstGeom prst="rect">
            <a:avLst/>
          </a:prstGeom>
          <a:noFill/>
        </p:spPr>
        <p:txBody>
          <a:bodyPr wrap="square" lIns="0" rIns="0" tIns="0">
            <a:spAutoFit/>
          </a:bodyPr>
          <a:lstStyle/>
          <a:p>
            <a:pPr>
              <a:spcAft>
                <a:spcPts val="1000"/>
              </a:spcAft>
              <a:defRPr sz="3200" b="1">
                <a:solidFill>
                  <a:srgbClr val="0D1C33"/>
                </a:solidFill>
                <a:latin typeface="Aptos"/>
              </a:defRPr>
            </a:pPr>
            <a:r>
              <a:t>Alan adı ve DNS yayılımı</a:t>
            </a:r>
          </a:p>
        </p:txBody>
      </p:sp>
      <p:sp>
        <p:nvSpPr>
          <p:cNvPr id="4" name="TextBox 3"/>
          <p:cNvSpPr txBox="1"/>
          <p:nvPr/>
        </p:nvSpPr>
        <p:spPr>
          <a:xfrm>
            <a:off x="841248" y="181051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Alan adı</a:t>
            </a:r>
          </a:p>
        </p:txBody>
      </p:sp>
      <p:sp>
        <p:nvSpPr>
          <p:cNvPr id="5" name="TextBox 4"/>
          <p:cNvSpPr txBox="1"/>
          <p:nvPr/>
        </p:nvSpPr>
        <p:spPr>
          <a:xfrm>
            <a:off x="841248" y="2221992"/>
            <a:ext cx="10424160" cy="876300"/>
          </a:xfrm>
          <a:prstGeom prst="rect">
            <a:avLst/>
          </a:prstGeom>
          <a:noFill/>
        </p:spPr>
        <p:txBody>
          <a:bodyPr wrap="square" lIns="0" rIns="0" tIns="0">
            <a:spAutoFit/>
          </a:bodyPr>
          <a:lstStyle/>
          <a:p>
            <a:pPr>
              <a:defRPr sz="1600">
                <a:solidFill>
                  <a:srgbClr val="0D1C33"/>
                </a:solidFill>
                <a:latin typeface="Aptos"/>
              </a:defRPr>
            </a:pPr>
            <a:r>
              <a:t>Kullanıcının yazdığı okunabilir ad DNS kayıtlarıyla sitenin hizmet verdiği adrese bağlanır. Örneğin yeni sunucuya geçince alan adının DNS kaydını değiştirirsin; kullanıcı yine aynı adı yazar.</a:t>
            </a:r>
          </a:p>
        </p:txBody>
      </p:sp>
      <p:sp>
        <p:nvSpPr>
          <p:cNvPr id="6" name="TextBox 5"/>
          <p:cNvSpPr txBox="1"/>
          <p:nvPr/>
        </p:nvSpPr>
        <p:spPr>
          <a:xfrm>
            <a:off x="841248" y="330403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Değişiklik ve önbellek</a:t>
            </a:r>
          </a:p>
        </p:txBody>
      </p:sp>
      <p:sp>
        <p:nvSpPr>
          <p:cNvPr id="7" name="TextBox 6"/>
          <p:cNvSpPr txBox="1"/>
          <p:nvPr/>
        </p:nvSpPr>
        <p:spPr>
          <a:xfrm>
            <a:off x="841248" y="3715512"/>
            <a:ext cx="10424160" cy="876300"/>
          </a:xfrm>
          <a:prstGeom prst="rect">
            <a:avLst/>
          </a:prstGeom>
          <a:noFill/>
        </p:spPr>
        <p:txBody>
          <a:bodyPr wrap="square" lIns="0" rIns="0" tIns="0">
            <a:spAutoFit/>
          </a:bodyPr>
          <a:lstStyle/>
          <a:p>
            <a:pPr>
              <a:defRPr sz="1600">
                <a:solidFill>
                  <a:srgbClr val="0D1C33"/>
                </a:solidFill>
                <a:latin typeface="Aptos"/>
              </a:defRPr>
            </a:pPr>
            <a:r>
              <a:t>DNS kaydı değişince önbelleklerde eski yanıt TTL süresi dolana kadar bulunabilir; farklı kullanıcılar bir süre farklı sonuç görebilir. Bazı çözümleyiciler TTL bitene kadar eski IP'yi tuttuğundan geçiş herkes için aynı saniyede görünmez.</a:t>
            </a:r>
          </a:p>
        </p:txBody>
      </p:sp>
      <p:sp>
        <p:nvSpPr>
          <p:cNvPr id="8" name="TextBox 7"/>
          <p:cNvSpPr txBox="1"/>
          <p:nvPr/>
        </p:nvSpPr>
        <p:spPr>
          <a:xfrm>
            <a:off x="841248" y="479755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Yayılım ifadesi</a:t>
            </a:r>
          </a:p>
        </p:txBody>
      </p:sp>
      <p:sp>
        <p:nvSpPr>
          <p:cNvPr id="9" name="TextBox 8"/>
          <p:cNvSpPr txBox="1"/>
          <p:nvPr/>
        </p:nvSpPr>
        <p:spPr>
          <a:xfrm>
            <a:off x="841248" y="5209032"/>
            <a:ext cx="10424160" cy="876300"/>
          </a:xfrm>
          <a:prstGeom prst="rect">
            <a:avLst/>
          </a:prstGeom>
          <a:noFill/>
        </p:spPr>
        <p:txBody>
          <a:bodyPr wrap="square" lIns="0" rIns="0" tIns="0">
            <a:spAutoFit/>
          </a:bodyPr>
          <a:lstStyle/>
          <a:p>
            <a:pPr>
              <a:defRPr sz="1600">
                <a:solidFill>
                  <a:srgbClr val="0D1C33"/>
                </a:solidFill>
                <a:latin typeface="Aptos"/>
              </a:defRPr>
            </a:pPr>
            <a:r>
              <a:t>'Küresel yayılım' çoğunlukla önbelleklerin güncellenmesini anlatır; her DNS sunucusuna aynı anda veri kopyalanması değildir. Geçişten önce TTL planlamak ve eski sunucuyu kısa süre açık tutmak kesintiyi azaltabilir.</a:t>
            </a:r>
          </a:p>
        </p:txBody>
      </p:sp>
      <p:sp>
        <p:nvSpPr>
          <p:cNvPr id="10" name="TextBox 9"/>
          <p:cNvSpPr txBox="1"/>
          <p:nvPr/>
        </p:nvSpPr>
        <p:spPr>
          <a:xfrm>
            <a:off x="685800" y="6473952"/>
            <a:ext cx="91440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Sancak  /  Faz 1</a:t>
            </a:r>
          </a:p>
        </p:txBody>
      </p:sp>
      <p:sp>
        <p:nvSpPr>
          <p:cNvPr id="11" name="TextBox 10"/>
          <p:cNvSpPr txBox="1"/>
          <p:nvPr/>
        </p:nvSpPr>
        <p:spPr>
          <a:xfrm>
            <a:off x="11082528" y="6473952"/>
            <a:ext cx="4572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58368" y="292608"/>
            <a:ext cx="10058400" cy="320040"/>
          </a:xfrm>
          <a:prstGeom prst="rect">
            <a:avLst/>
          </a:prstGeom>
          <a:noFill/>
        </p:spPr>
        <p:txBody>
          <a:bodyPr wrap="square" lIns="0" rIns="0" tIns="0">
            <a:spAutoFit/>
          </a:bodyPr>
          <a:lstStyle/>
          <a:p>
            <a:pPr>
              <a:spcAft>
                <a:spcPts val="1000"/>
              </a:spcAft>
              <a:defRPr sz="1300" b="1">
                <a:solidFill>
                  <a:srgbClr val="1B899B"/>
                </a:solidFill>
                <a:latin typeface="Aptos"/>
              </a:defRPr>
            </a:pPr>
            <a:r>
              <a:t>YAYINLAMA</a:t>
            </a:r>
          </a:p>
        </p:txBody>
      </p:sp>
      <p:sp>
        <p:nvSpPr>
          <p:cNvPr id="3" name="TextBox 2"/>
          <p:cNvSpPr txBox="1"/>
          <p:nvPr/>
        </p:nvSpPr>
        <p:spPr>
          <a:xfrm>
            <a:off x="658368" y="795528"/>
            <a:ext cx="10881360" cy="822960"/>
          </a:xfrm>
          <a:prstGeom prst="rect">
            <a:avLst/>
          </a:prstGeom>
          <a:noFill/>
        </p:spPr>
        <p:txBody>
          <a:bodyPr wrap="square" lIns="0" rIns="0" tIns="0">
            <a:spAutoFit/>
          </a:bodyPr>
          <a:lstStyle/>
          <a:p>
            <a:pPr>
              <a:spcAft>
                <a:spcPts val="1000"/>
              </a:spcAft>
              <a:defRPr sz="3200" b="1">
                <a:solidFill>
                  <a:srgbClr val="0D1C33"/>
                </a:solidFill>
                <a:latin typeface="Aptos"/>
              </a:defRPr>
            </a:pPr>
            <a:r>
              <a:t>CDN: İçerik kullanıcıya yaklaşır</a:t>
            </a:r>
          </a:p>
        </p:txBody>
      </p:sp>
      <p:sp>
        <p:nvSpPr>
          <p:cNvPr id="4" name="TextBox 3"/>
          <p:cNvSpPr txBox="1"/>
          <p:nvPr/>
        </p:nvSpPr>
        <p:spPr>
          <a:xfrm>
            <a:off x="841248" y="181051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Uç noktalar</a:t>
            </a:r>
          </a:p>
        </p:txBody>
      </p:sp>
      <p:sp>
        <p:nvSpPr>
          <p:cNvPr id="5" name="TextBox 4"/>
          <p:cNvSpPr txBox="1"/>
          <p:nvPr/>
        </p:nvSpPr>
        <p:spPr>
          <a:xfrm>
            <a:off x="841248" y="2221992"/>
            <a:ext cx="10424160" cy="876300"/>
          </a:xfrm>
          <a:prstGeom prst="rect">
            <a:avLst/>
          </a:prstGeom>
          <a:noFill/>
        </p:spPr>
        <p:txBody>
          <a:bodyPr wrap="square" lIns="0" rIns="0" tIns="0">
            <a:spAutoFit/>
          </a:bodyPr>
          <a:lstStyle/>
          <a:p>
            <a:pPr>
              <a:defRPr sz="1600">
                <a:solidFill>
                  <a:srgbClr val="0D1C33"/>
                </a:solidFill>
                <a:latin typeface="Aptos"/>
              </a:defRPr>
            </a:pPr>
            <a:r>
              <a:t>CDN statik dosyaların kopyasını farklı bölgelerdeki edge sunucularda tutabilir. Örneğin İstanbul'daki kullanıcı görseli kıtalar arası kaynak yerine yakındaki edge noktasından alabilir.</a:t>
            </a:r>
          </a:p>
        </p:txBody>
      </p:sp>
      <p:sp>
        <p:nvSpPr>
          <p:cNvPr id="6" name="TextBox 5"/>
          <p:cNvSpPr txBox="1"/>
          <p:nvPr/>
        </p:nvSpPr>
        <p:spPr>
          <a:xfrm>
            <a:off x="841248" y="330403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Gecikme</a:t>
            </a:r>
          </a:p>
        </p:txBody>
      </p:sp>
      <p:sp>
        <p:nvSpPr>
          <p:cNvPr id="7" name="TextBox 6"/>
          <p:cNvSpPr txBox="1"/>
          <p:nvPr/>
        </p:nvSpPr>
        <p:spPr>
          <a:xfrm>
            <a:off x="841248" y="3715512"/>
            <a:ext cx="10424160" cy="876300"/>
          </a:xfrm>
          <a:prstGeom prst="rect">
            <a:avLst/>
          </a:prstGeom>
          <a:noFill/>
        </p:spPr>
        <p:txBody>
          <a:bodyPr wrap="square" lIns="0" rIns="0" tIns="0">
            <a:spAutoFit/>
          </a:bodyPr>
          <a:lstStyle/>
          <a:p>
            <a:pPr>
              <a:defRPr sz="1600">
                <a:solidFill>
                  <a:srgbClr val="0D1C33"/>
                </a:solidFill>
                <a:latin typeface="Aptos"/>
              </a:defRPr>
            </a:pPr>
            <a:r>
              <a:t>Uygun durumda kullanıcı yakındaki önbellekten yanıt alır ve ağ mesafesi azalır. Dosya önbellekteyse CDN yanıtı hızlandırır; değilse önce kaynak sunucudan alıp sonrakiler için saklayabilir.</a:t>
            </a:r>
          </a:p>
        </p:txBody>
      </p:sp>
      <p:sp>
        <p:nvSpPr>
          <p:cNvPr id="8" name="TextBox 7"/>
          <p:cNvSpPr txBox="1"/>
          <p:nvPr/>
        </p:nvSpPr>
        <p:spPr>
          <a:xfrm>
            <a:off x="841248" y="479755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Sınır</a:t>
            </a:r>
          </a:p>
        </p:txBody>
      </p:sp>
      <p:sp>
        <p:nvSpPr>
          <p:cNvPr id="9" name="TextBox 8"/>
          <p:cNvSpPr txBox="1"/>
          <p:nvPr/>
        </p:nvSpPr>
        <p:spPr>
          <a:xfrm>
            <a:off x="841248" y="5209032"/>
            <a:ext cx="10424160" cy="876300"/>
          </a:xfrm>
          <a:prstGeom prst="rect">
            <a:avLst/>
          </a:prstGeom>
          <a:noFill/>
        </p:spPr>
        <p:txBody>
          <a:bodyPr wrap="square" lIns="0" rIns="0" tIns="0">
            <a:spAutoFit/>
          </a:bodyPr>
          <a:lstStyle/>
          <a:p>
            <a:pPr>
              <a:defRPr sz="1600">
                <a:solidFill>
                  <a:srgbClr val="0D1C33"/>
                </a:solidFill>
                <a:latin typeface="Aptos"/>
              </a:defRPr>
            </a:pPr>
            <a:r>
              <a:t>Her dosya her edge sunucuda her zaman hazır olmayabilir. İlk istek kaynak sunucuya gidebilir. Dinamik veya kişiye özel içerik için önbellekleme kuralları ayrıca düşünülmelidir.</a:t>
            </a:r>
          </a:p>
        </p:txBody>
      </p:sp>
      <p:sp>
        <p:nvSpPr>
          <p:cNvPr id="10" name="TextBox 9"/>
          <p:cNvSpPr txBox="1"/>
          <p:nvPr/>
        </p:nvSpPr>
        <p:spPr>
          <a:xfrm>
            <a:off x="685800" y="6473952"/>
            <a:ext cx="91440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Sancak  /  Faz 1</a:t>
            </a:r>
          </a:p>
        </p:txBody>
      </p:sp>
      <p:sp>
        <p:nvSpPr>
          <p:cNvPr id="11" name="TextBox 10"/>
          <p:cNvSpPr txBox="1"/>
          <p:nvPr/>
        </p:nvSpPr>
        <p:spPr>
          <a:xfrm>
            <a:off x="11082528" y="6473952"/>
            <a:ext cx="4572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58368" y="292608"/>
            <a:ext cx="10058400" cy="320040"/>
          </a:xfrm>
          <a:prstGeom prst="rect">
            <a:avLst/>
          </a:prstGeom>
          <a:noFill/>
        </p:spPr>
        <p:txBody>
          <a:bodyPr wrap="square" lIns="0" rIns="0" tIns="0">
            <a:spAutoFit/>
          </a:bodyPr>
          <a:lstStyle/>
          <a:p>
            <a:pPr>
              <a:spcAft>
                <a:spcPts val="1000"/>
              </a:spcAft>
              <a:defRPr sz="1300" b="1">
                <a:solidFill>
                  <a:srgbClr val="1B899B"/>
                </a:solidFill>
                <a:latin typeface="Aptos"/>
              </a:defRPr>
            </a:pPr>
            <a:r>
              <a:t>YAYINLAMA</a:t>
            </a:r>
          </a:p>
        </p:txBody>
      </p:sp>
      <p:sp>
        <p:nvSpPr>
          <p:cNvPr id="3" name="TextBox 2"/>
          <p:cNvSpPr txBox="1"/>
          <p:nvPr/>
        </p:nvSpPr>
        <p:spPr>
          <a:xfrm>
            <a:off x="658368" y="795528"/>
            <a:ext cx="10881360" cy="822960"/>
          </a:xfrm>
          <a:prstGeom prst="rect">
            <a:avLst/>
          </a:prstGeom>
          <a:noFill/>
        </p:spPr>
        <p:txBody>
          <a:bodyPr wrap="square" lIns="0" rIns="0" tIns="0">
            <a:spAutoFit/>
          </a:bodyPr>
          <a:lstStyle/>
          <a:p>
            <a:pPr>
              <a:spcAft>
                <a:spcPts val="1000"/>
              </a:spcAft>
              <a:defRPr sz="3200" b="1">
                <a:solidFill>
                  <a:srgbClr val="0D1C33"/>
                </a:solidFill>
                <a:latin typeface="Aptos"/>
              </a:defRPr>
            </a:pPr>
            <a:r>
              <a:t>CI/CD ile dağıtım</a:t>
            </a:r>
          </a:p>
        </p:txBody>
      </p:sp>
      <p:sp>
        <p:nvSpPr>
          <p:cNvPr id="4" name="TextBox 3"/>
          <p:cNvSpPr txBox="1"/>
          <p:nvPr/>
        </p:nvSpPr>
        <p:spPr>
          <a:xfrm>
            <a:off x="841248" y="181051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CI</a:t>
            </a:r>
          </a:p>
        </p:txBody>
      </p:sp>
      <p:sp>
        <p:nvSpPr>
          <p:cNvPr id="5" name="TextBox 4"/>
          <p:cNvSpPr txBox="1"/>
          <p:nvPr/>
        </p:nvSpPr>
        <p:spPr>
          <a:xfrm>
            <a:off x="841248" y="2221992"/>
            <a:ext cx="10424160" cy="876300"/>
          </a:xfrm>
          <a:prstGeom prst="rect">
            <a:avLst/>
          </a:prstGeom>
          <a:noFill/>
        </p:spPr>
        <p:txBody>
          <a:bodyPr wrap="square" lIns="0" rIns="0" tIns="0">
            <a:spAutoFit/>
          </a:bodyPr>
          <a:lstStyle/>
          <a:p>
            <a:pPr>
              <a:defRPr sz="1600">
                <a:solidFill>
                  <a:srgbClr val="0D1C33"/>
                </a:solidFill>
                <a:latin typeface="Aptos"/>
              </a:defRPr>
            </a:pPr>
            <a:r>
              <a:t>Depoya kod gönderildiğinde otomatik kontroller, testler ve derleme çalışabilir. Örneğin GitHub'a gönderilen kod için otomatik bir iş akışı önce testleri çalıştırıp sonra yayın dosyalarını hazırlayabilir.</a:t>
            </a:r>
          </a:p>
        </p:txBody>
      </p:sp>
      <p:sp>
        <p:nvSpPr>
          <p:cNvPr id="6" name="TextBox 5"/>
          <p:cNvSpPr txBox="1"/>
          <p:nvPr/>
        </p:nvSpPr>
        <p:spPr>
          <a:xfrm>
            <a:off x="841248" y="330403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CD</a:t>
            </a:r>
          </a:p>
        </p:txBody>
      </p:sp>
      <p:sp>
        <p:nvSpPr>
          <p:cNvPr id="7" name="TextBox 6"/>
          <p:cNvSpPr txBox="1"/>
          <p:nvPr/>
        </p:nvSpPr>
        <p:spPr>
          <a:xfrm>
            <a:off x="841248" y="3715512"/>
            <a:ext cx="10424160" cy="876300"/>
          </a:xfrm>
          <a:prstGeom prst="rect">
            <a:avLst/>
          </a:prstGeom>
          <a:noFill/>
        </p:spPr>
        <p:txBody>
          <a:bodyPr wrap="square" lIns="0" rIns="0" tIns="0">
            <a:spAutoFit/>
          </a:bodyPr>
          <a:lstStyle/>
          <a:p>
            <a:pPr>
              <a:defRPr sz="1600">
                <a:solidFill>
                  <a:srgbClr val="0D1C33"/>
                </a:solidFill>
                <a:latin typeface="Aptos"/>
              </a:defRPr>
            </a:pPr>
            <a:r>
              <a:t>Başarılı bir sürüm barındırma ortamına otomatik veya onayla dağıtılabilir. Test başarısızsa dağıtımı durdurmak, bozuk bir sürümün canlı siteye çıkmasını önlemeye yardımcı olur.</a:t>
            </a:r>
          </a:p>
        </p:txBody>
      </p:sp>
      <p:sp>
        <p:nvSpPr>
          <p:cNvPr id="8" name="TextBox 7"/>
          <p:cNvSpPr txBox="1"/>
          <p:nvPr/>
        </p:nvSpPr>
        <p:spPr>
          <a:xfrm>
            <a:off x="841248" y="479755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Önemli ayrım</a:t>
            </a:r>
          </a:p>
        </p:txBody>
      </p:sp>
      <p:sp>
        <p:nvSpPr>
          <p:cNvPr id="9" name="TextBox 8"/>
          <p:cNvSpPr txBox="1"/>
          <p:nvPr/>
        </p:nvSpPr>
        <p:spPr>
          <a:xfrm>
            <a:off x="841248" y="5209032"/>
            <a:ext cx="10424160" cy="876300"/>
          </a:xfrm>
          <a:prstGeom prst="rect">
            <a:avLst/>
          </a:prstGeom>
          <a:noFill/>
        </p:spPr>
        <p:txBody>
          <a:bodyPr wrap="square" lIns="0" rIns="0" tIns="0">
            <a:spAutoFit/>
          </a:bodyPr>
          <a:lstStyle/>
          <a:p>
            <a:pPr>
              <a:defRPr sz="1600">
                <a:solidFill>
                  <a:srgbClr val="0D1C33"/>
                </a:solidFill>
                <a:latin typeface="Aptos"/>
              </a:defRPr>
            </a:pPr>
            <a:r>
              <a:t>GitHub Pages, Vercel ve Netlify farklı dağıtım akışları sunar. Otomatik test ve kesintisiz geçiş projenin kurulumuna bağlıdır. Hangi dala gönderimin yayın başlatacağı ve onay gerekip gerekmediği projeye göre belirlenir.</a:t>
            </a:r>
          </a:p>
        </p:txBody>
      </p:sp>
      <p:sp>
        <p:nvSpPr>
          <p:cNvPr id="10" name="TextBox 9"/>
          <p:cNvSpPr txBox="1"/>
          <p:nvPr/>
        </p:nvSpPr>
        <p:spPr>
          <a:xfrm>
            <a:off x="685800" y="6473952"/>
            <a:ext cx="91440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Sancak  /  Faz 1</a:t>
            </a:r>
          </a:p>
        </p:txBody>
      </p:sp>
      <p:sp>
        <p:nvSpPr>
          <p:cNvPr id="11" name="TextBox 10"/>
          <p:cNvSpPr txBox="1"/>
          <p:nvPr/>
        </p:nvSpPr>
        <p:spPr>
          <a:xfrm>
            <a:off x="11082528" y="6473952"/>
            <a:ext cx="4572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58368" y="292608"/>
            <a:ext cx="10058400" cy="320040"/>
          </a:xfrm>
          <a:prstGeom prst="rect">
            <a:avLst/>
          </a:prstGeom>
          <a:noFill/>
        </p:spPr>
        <p:txBody>
          <a:bodyPr wrap="square" lIns="0" rIns="0" tIns="0">
            <a:spAutoFit/>
          </a:bodyPr>
          <a:lstStyle/>
          <a:p>
            <a:pPr>
              <a:spcAft>
                <a:spcPts val="1000"/>
              </a:spcAft>
              <a:defRPr sz="1300" b="1">
                <a:solidFill>
                  <a:srgbClr val="1B899B"/>
                </a:solidFill>
                <a:latin typeface="Aptos"/>
              </a:defRPr>
            </a:pPr>
            <a:r>
              <a:t>YAYINLAMA</a:t>
            </a:r>
          </a:p>
        </p:txBody>
      </p:sp>
      <p:sp>
        <p:nvSpPr>
          <p:cNvPr id="3" name="TextBox 2"/>
          <p:cNvSpPr txBox="1"/>
          <p:nvPr/>
        </p:nvSpPr>
        <p:spPr>
          <a:xfrm>
            <a:off x="658368" y="795528"/>
            <a:ext cx="10881360" cy="822960"/>
          </a:xfrm>
          <a:prstGeom prst="rect">
            <a:avLst/>
          </a:prstGeom>
          <a:noFill/>
        </p:spPr>
        <p:txBody>
          <a:bodyPr wrap="square" lIns="0" rIns="0" tIns="0">
            <a:spAutoFit/>
          </a:bodyPr>
          <a:lstStyle/>
          <a:p>
            <a:pPr>
              <a:spcAft>
                <a:spcPts val="1000"/>
              </a:spcAft>
              <a:defRPr sz="3200" b="1">
                <a:solidFill>
                  <a:srgbClr val="0D1C33"/>
                </a:solidFill>
                <a:latin typeface="Aptos"/>
              </a:defRPr>
            </a:pPr>
            <a:r>
              <a:t>HTTPS ve TLS güvenliği</a:t>
            </a:r>
          </a:p>
        </p:txBody>
      </p:sp>
      <p:sp>
        <p:nvSpPr>
          <p:cNvPr id="4" name="TextBox 3"/>
          <p:cNvSpPr txBox="1"/>
          <p:nvPr/>
        </p:nvSpPr>
        <p:spPr>
          <a:xfrm>
            <a:off x="841248" y="181051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Sertifika</a:t>
            </a:r>
          </a:p>
        </p:txBody>
      </p:sp>
      <p:sp>
        <p:nvSpPr>
          <p:cNvPr id="5" name="TextBox 4"/>
          <p:cNvSpPr txBox="1"/>
          <p:nvPr/>
        </p:nvSpPr>
        <p:spPr>
          <a:xfrm>
            <a:off x="841248" y="2221992"/>
            <a:ext cx="10424160" cy="876300"/>
          </a:xfrm>
          <a:prstGeom prst="rect">
            <a:avLst/>
          </a:prstGeom>
          <a:noFill/>
        </p:spPr>
        <p:txBody>
          <a:bodyPr wrap="square" lIns="0" rIns="0" tIns="0">
            <a:spAutoFit/>
          </a:bodyPr>
          <a:lstStyle/>
          <a:p>
            <a:pPr>
              <a:defRPr sz="1600">
                <a:solidFill>
                  <a:srgbClr val="0D1C33"/>
                </a:solidFill>
                <a:latin typeface="Aptos"/>
              </a:defRPr>
            </a:pPr>
            <a:r>
              <a:t>Tarayıcı, sunucunun sunduğu sertifika zincirini ve alan adı eşleşmesini doğrular. Örneğin tarayıcı adres çubuğundaki alan adıyla sertifikadaki ad uyuşmazsa kullanıcıyı uyarır.</a:t>
            </a:r>
          </a:p>
        </p:txBody>
      </p:sp>
      <p:sp>
        <p:nvSpPr>
          <p:cNvPr id="6" name="TextBox 5"/>
          <p:cNvSpPr txBox="1"/>
          <p:nvPr/>
        </p:nvSpPr>
        <p:spPr>
          <a:xfrm>
            <a:off x="841248" y="330403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Şifreli oturum</a:t>
            </a:r>
          </a:p>
        </p:txBody>
      </p:sp>
      <p:sp>
        <p:nvSpPr>
          <p:cNvPr id="7" name="TextBox 6"/>
          <p:cNvSpPr txBox="1"/>
          <p:nvPr/>
        </p:nvSpPr>
        <p:spPr>
          <a:xfrm>
            <a:off x="841248" y="3715512"/>
            <a:ext cx="10424160" cy="876300"/>
          </a:xfrm>
          <a:prstGeom prst="rect">
            <a:avLst/>
          </a:prstGeom>
          <a:noFill/>
        </p:spPr>
        <p:txBody>
          <a:bodyPr wrap="square" lIns="0" rIns="0" tIns="0">
            <a:spAutoFit/>
          </a:bodyPr>
          <a:lstStyle/>
          <a:p>
            <a:pPr>
              <a:defRPr sz="1600">
                <a:solidFill>
                  <a:srgbClr val="0D1C33"/>
                </a:solidFill>
                <a:latin typeface="Aptos"/>
              </a:defRPr>
            </a:pPr>
            <a:r>
              <a:t>TLS anahtar değişimiyle bağlantıyı şifreler ve verinin değiştirilmesini tespit etmeye yardımcı olur. Ağdaki üçüncü bir kişi trafiği görebilse bile doğru kurulan TLS içeriği okunamaz ve değişiklikler saptanır.</a:t>
            </a:r>
          </a:p>
        </p:txBody>
      </p:sp>
      <p:sp>
        <p:nvSpPr>
          <p:cNvPr id="8" name="TextBox 7"/>
          <p:cNvSpPr txBox="1"/>
          <p:nvPr/>
        </p:nvSpPr>
        <p:spPr>
          <a:xfrm>
            <a:off x="841248" y="479755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Sınırlar</a:t>
            </a:r>
          </a:p>
        </p:txBody>
      </p:sp>
      <p:sp>
        <p:nvSpPr>
          <p:cNvPr id="9" name="TextBox 8"/>
          <p:cNvSpPr txBox="1"/>
          <p:nvPr/>
        </p:nvSpPr>
        <p:spPr>
          <a:xfrm>
            <a:off x="841248" y="5209032"/>
            <a:ext cx="10424160" cy="876300"/>
          </a:xfrm>
          <a:prstGeom prst="rect">
            <a:avLst/>
          </a:prstGeom>
          <a:noFill/>
        </p:spPr>
        <p:txBody>
          <a:bodyPr wrap="square" lIns="0" rIns="0" tIns="0">
            <a:spAutoFit/>
          </a:bodyPr>
          <a:lstStyle/>
          <a:p>
            <a:pPr>
              <a:defRPr sz="1600">
                <a:solidFill>
                  <a:srgbClr val="0D1C33"/>
                </a:solidFill>
                <a:latin typeface="Aptos"/>
              </a:defRPr>
            </a:pPr>
            <a:r>
              <a:t>Doğru yapılandırılmış HTTPS ağdaki dinleyicilere karşı güçlü koruma sağlar; sahte siteye gitmek veya cihazın ele geçirilmesi gibi riskleri tek başına çözmez. Fakat kullanıcı saldırganın benzer isimli sitesine kendi isteğiyle girerse geçerli HTTPS bağlantısı tek başına korumaz.</a:t>
            </a:r>
          </a:p>
        </p:txBody>
      </p:sp>
      <p:sp>
        <p:nvSpPr>
          <p:cNvPr id="10" name="TextBox 9"/>
          <p:cNvSpPr txBox="1"/>
          <p:nvPr/>
        </p:nvSpPr>
        <p:spPr>
          <a:xfrm>
            <a:off x="685800" y="6473952"/>
            <a:ext cx="91440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Sancak  /  Faz 1</a:t>
            </a:r>
          </a:p>
        </p:txBody>
      </p:sp>
      <p:sp>
        <p:nvSpPr>
          <p:cNvPr id="11" name="TextBox 10"/>
          <p:cNvSpPr txBox="1"/>
          <p:nvPr/>
        </p:nvSpPr>
        <p:spPr>
          <a:xfrm>
            <a:off x="11082528" y="6473952"/>
            <a:ext cx="4572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58368" y="292608"/>
            <a:ext cx="10058400" cy="320040"/>
          </a:xfrm>
          <a:prstGeom prst="rect">
            <a:avLst/>
          </a:prstGeom>
          <a:noFill/>
        </p:spPr>
        <p:txBody>
          <a:bodyPr wrap="square" lIns="0" rIns="0" tIns="0">
            <a:spAutoFit/>
          </a:bodyPr>
          <a:lstStyle/>
          <a:p>
            <a:pPr>
              <a:spcAft>
                <a:spcPts val="1000"/>
              </a:spcAft>
              <a:defRPr sz="1300" b="1">
                <a:solidFill>
                  <a:srgbClr val="1B899B"/>
                </a:solidFill>
                <a:latin typeface="Aptos"/>
              </a:defRPr>
            </a:pPr>
            <a:r>
              <a:t>KAPANIŞ</a:t>
            </a:r>
          </a:p>
        </p:txBody>
      </p:sp>
      <p:sp>
        <p:nvSpPr>
          <p:cNvPr id="3" name="TextBox 2"/>
          <p:cNvSpPr txBox="1"/>
          <p:nvPr/>
        </p:nvSpPr>
        <p:spPr>
          <a:xfrm>
            <a:off x="658368" y="795528"/>
            <a:ext cx="10881360" cy="822960"/>
          </a:xfrm>
          <a:prstGeom prst="rect">
            <a:avLst/>
          </a:prstGeom>
          <a:noFill/>
        </p:spPr>
        <p:txBody>
          <a:bodyPr wrap="square" lIns="0" rIns="0" tIns="0">
            <a:spAutoFit/>
          </a:bodyPr>
          <a:lstStyle/>
          <a:p>
            <a:pPr>
              <a:spcAft>
                <a:spcPts val="1000"/>
              </a:spcAft>
              <a:defRPr sz="3200" b="1">
                <a:solidFill>
                  <a:srgbClr val="0D1C33"/>
                </a:solidFill>
                <a:latin typeface="Aptos"/>
              </a:defRPr>
            </a:pPr>
            <a:r>
              <a:t>Baştan sona: İlk web sitesi</a:t>
            </a:r>
          </a:p>
        </p:txBody>
      </p:sp>
      <p:sp>
        <p:nvSpPr>
          <p:cNvPr id="4" name="TextBox 3"/>
          <p:cNvSpPr txBox="1"/>
          <p:nvPr/>
        </p:nvSpPr>
        <p:spPr>
          <a:xfrm>
            <a:off x="841248" y="181051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Hazırla</a:t>
            </a:r>
          </a:p>
        </p:txBody>
      </p:sp>
      <p:sp>
        <p:nvSpPr>
          <p:cNvPr id="5" name="TextBox 4"/>
          <p:cNvSpPr txBox="1"/>
          <p:nvPr/>
        </p:nvSpPr>
        <p:spPr>
          <a:xfrm>
            <a:off x="841248" y="2221992"/>
            <a:ext cx="10424160" cy="876300"/>
          </a:xfrm>
          <a:prstGeom prst="rect">
            <a:avLst/>
          </a:prstGeom>
          <a:noFill/>
        </p:spPr>
        <p:txBody>
          <a:bodyPr wrap="square" lIns="0" rIns="0" tIns="0">
            <a:spAutoFit/>
          </a:bodyPr>
          <a:lstStyle/>
          <a:p>
            <a:pPr>
              <a:defRPr sz="1600">
                <a:solidFill>
                  <a:srgbClr val="0D1C33"/>
                </a:solidFill>
                <a:latin typeface="Aptos"/>
              </a:defRPr>
            </a:pPr>
            <a:r>
              <a:t>Editörde proje klasörünü oluştur; yerel sunucuda aç ve tarayıcı araçlarıyla incele. Örneğin index.html, style.css ve scripts/main.js dosyalarını tek proje içinde tutup localhost'ta birlikte açarsın.</a:t>
            </a:r>
          </a:p>
        </p:txBody>
      </p:sp>
      <p:sp>
        <p:nvSpPr>
          <p:cNvPr id="6" name="TextBox 5"/>
          <p:cNvSpPr txBox="1"/>
          <p:nvPr/>
        </p:nvSpPr>
        <p:spPr>
          <a:xfrm>
            <a:off x="841248" y="330403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Geliştir</a:t>
            </a:r>
          </a:p>
        </p:txBody>
      </p:sp>
      <p:sp>
        <p:nvSpPr>
          <p:cNvPr id="7" name="TextBox 6"/>
          <p:cNvSpPr txBox="1"/>
          <p:nvPr/>
        </p:nvSpPr>
        <p:spPr>
          <a:xfrm>
            <a:off x="841248" y="3715512"/>
            <a:ext cx="10424160" cy="876300"/>
          </a:xfrm>
          <a:prstGeom prst="rect">
            <a:avLst/>
          </a:prstGeom>
          <a:noFill/>
        </p:spPr>
        <p:txBody>
          <a:bodyPr wrap="square" lIns="0" rIns="0" tIns="0">
            <a:spAutoFit/>
          </a:bodyPr>
          <a:lstStyle/>
          <a:p>
            <a:pPr>
              <a:defRPr sz="1600">
                <a:solidFill>
                  <a:srgbClr val="0D1C33"/>
                </a:solidFill>
                <a:latin typeface="Aptos"/>
              </a:defRPr>
            </a:pPr>
            <a:r>
              <a:t>HTML yapısını kur, CSS ile düzenle, JavaScript ile bir tıklama etkileşimi ekle. Bir düğmenin metin değiştirmesi HTML öğesi, CSS görünümü ve JavaScript olayının birlikte çalıştığını gösterir.</a:t>
            </a:r>
          </a:p>
        </p:txBody>
      </p:sp>
      <p:sp>
        <p:nvSpPr>
          <p:cNvPr id="8" name="TextBox 7"/>
          <p:cNvSpPr txBox="1"/>
          <p:nvPr/>
        </p:nvSpPr>
        <p:spPr>
          <a:xfrm>
            <a:off x="841248" y="4797552"/>
            <a:ext cx="10469880" cy="384048"/>
          </a:xfrm>
          <a:prstGeom prst="rect">
            <a:avLst/>
          </a:prstGeom>
          <a:noFill/>
        </p:spPr>
        <p:txBody>
          <a:bodyPr wrap="square" lIns="0" rIns="0" tIns="0">
            <a:spAutoFit/>
          </a:bodyPr>
          <a:lstStyle/>
          <a:p>
            <a:pPr>
              <a:spcAft>
                <a:spcPts val="1000"/>
              </a:spcAft>
              <a:defRPr sz="2100" b="1">
                <a:solidFill>
                  <a:srgbClr val="265EA1"/>
                </a:solidFill>
                <a:latin typeface="Aptos"/>
              </a:defRPr>
            </a:pPr>
            <a:r>
              <a:t>Yayınla</a:t>
            </a:r>
          </a:p>
        </p:txBody>
      </p:sp>
      <p:sp>
        <p:nvSpPr>
          <p:cNvPr id="9" name="TextBox 8"/>
          <p:cNvSpPr txBox="1"/>
          <p:nvPr/>
        </p:nvSpPr>
        <p:spPr>
          <a:xfrm>
            <a:off x="841248" y="5209032"/>
            <a:ext cx="10424160" cy="876300"/>
          </a:xfrm>
          <a:prstGeom prst="rect">
            <a:avLst/>
          </a:prstGeom>
          <a:noFill/>
        </p:spPr>
        <p:txBody>
          <a:bodyPr wrap="square" lIns="0" rIns="0" tIns="0">
            <a:spAutoFit/>
          </a:bodyPr>
          <a:lstStyle/>
          <a:p>
            <a:pPr>
              <a:defRPr sz="1600">
                <a:solidFill>
                  <a:srgbClr val="0D1C33"/>
                </a:solidFill>
                <a:latin typeface="Aptos"/>
              </a:defRPr>
            </a:pPr>
            <a:r>
              <a:t>Git geçmişine kaydet, barındırma hizmetine dağıt ve HTTPS üzerinden çalışan adresi test et. Canlı adresi telefondan da açıp görselleri, bağlantıları ve tarayıcı konsolundaki hataları kontrol edersin.</a:t>
            </a:r>
          </a:p>
        </p:txBody>
      </p:sp>
      <p:sp>
        <p:nvSpPr>
          <p:cNvPr id="10" name="TextBox 9"/>
          <p:cNvSpPr txBox="1"/>
          <p:nvPr/>
        </p:nvSpPr>
        <p:spPr>
          <a:xfrm>
            <a:off x="685800" y="6473952"/>
            <a:ext cx="91440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Sancak  /  Faz 1</a:t>
            </a:r>
          </a:p>
        </p:txBody>
      </p:sp>
      <p:sp>
        <p:nvSpPr>
          <p:cNvPr id="11" name="TextBox 10"/>
          <p:cNvSpPr txBox="1"/>
          <p:nvPr/>
        </p:nvSpPr>
        <p:spPr>
          <a:xfrm>
            <a:off x="11082528" y="6473952"/>
            <a:ext cx="457200" cy="228600"/>
          </a:xfrm>
          <a:prstGeom prst="rect">
            <a:avLst/>
          </a:prstGeom>
          <a:noFill/>
        </p:spPr>
        <p:txBody>
          <a:bodyPr wrap="square" lIns="0" rIns="0" tIns="0">
            <a:spAutoFit/>
          </a:bodyPr>
          <a:lstStyle/>
          <a:p>
            <a:pPr>
              <a:spcAft>
                <a:spcPts val="1000"/>
              </a:spcAft>
              <a:defRPr sz="1100" b="0">
                <a:solidFill>
                  <a:srgbClr val="5D6E83"/>
                </a:solidFill>
                <a:latin typeface="Aptos"/>
              </a:defRPr>
            </a:pPr>
            <a:r>
              <a:t>33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Faz 1 - Açıklamalı Sunum (Sancak)</dc:title>
  <dc:subject/>
  <dc:creator>Samet Demir</dc:creator>
  <cp:keywords/>
  <dc:description>generated using python-pptx</dc:description>
  <cp:lastModifiedBy>Samet Demir</cp:lastModifiedBy>
  <cp:revision>1</cp:revision>
  <dcterms:created xsi:type="dcterms:W3CDTF">2013-01-27T09:14:16Z</dcterms:created>
  <dcterms:modified xsi:type="dcterms:W3CDTF">2026-10-03T20:00:00Z</dcterms:modified>
  <cp:category/>
</cp:coreProperties>
</file>