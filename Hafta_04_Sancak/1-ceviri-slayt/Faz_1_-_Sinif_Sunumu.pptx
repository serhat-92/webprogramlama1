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Açılış (yaklaşık 1,5 dk)
- Kendimizi tanıtıyoruz: Sancak takımı, Getting Started Modules 1. Grup.
- Konumuz MDN'deki iki modül: Environment setup (5 makale) ve Your first website (5 makale).
- Çeviri süreci (Samet'in kendi alanı): Makaleleri yapay zekâ yardımıyla Türkçeye çevirdik, sonra teknik olarak tek tek kontrol ettik. İlk taslakta "Git dosyaları şifreler" gibi hatalar vardı; doğrusu Git'in şifrelemediği, içerikten bir özet (hash) çıkardığıdır. Yapay zekâyı asistan olarak kullandık ama son kontrolü biz yaptık.
- Bugün amfide "arkada ne oluyor" kısmını konuşacağız; laboratuvarda aynı siteyi canlı kod olarak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Yol haritası (1 dk)
- Bir web sitesinin üç aşaması var: ortamı hazırlamak, siteyi yapmak, yayına almak.
- MDN'nin 10 makalesi bu sıralamayı takip ediyor.
- Benzetme: Bir aşçı önce tezgâhını hazırlar (ortam), sonra yemeği yapar (site), en son servis eder (yayın).
- Bütün örneklerimiz kendi yaptığımız siteden: serhat-92.github.io.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Araç çantası (1,5 dk)
- MDN başlangıç için dört araç sayıyor: kod editörü, tarayıcılar, yerel sunucu, isteğe bağlı grafik editörü.
- Tarayıcıda önemli olan: farklı motorlar (bir sonraki slayt).
- Yerel sunucu: bazı özellikler dosyayı çift tıklayarak açınca çalışmaz; bunu birkaç slayt sonra göreceğiz.
- Git şimdilik şart değil, MDN onu sonraki adımlara bırakıyor.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Tarayıcı motorları (1,5 dk)
- Tarayıcının görünen yüzü farklı olabilir; sayfayı okuyup ekrana çizen kısım motordur.
- Üç büyük motor: Blink (Chrome, Edge...), Gecko (Firefox), WebKit (Safari).
- MDN en az iki farklı motorda test etmeyi öneriyor; Chrome ve Edge aynı motoru kullandığı için iki test sayılmaz.
- Bizim projede Firefox ve Chromium ile test ettik.
Olası soru: "Neden motorlar farklı davranır?" → Her motor web standartlarını kendisi uygular; desteklenen özellikler ve hatalar motordan motora değişebilir.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Kod editörü (1,5 dk)
- Word yazının yanına kendi biçim bilgilerini de kaydeder; kod dosyası ise sadece yazdığımız karakterleri içermelidir (düz metin).
- Editörün katkısı: renklendirme, otomatik tamamlama, hata işaretleri.
- MDN'nin önerdiği kurulum: VS Code + Prettier eklentisi; ayarlardan Default Formatter = Prettier ve Format On Save açık.
Olası soru: "Renklendirme nasıl yapılıyor?" → Editör, her dil için yazılmış kurallarla kodu parçalara ayırıp (etiket, değer...) renklendirir. Hata bulma gibi daha derin özellikler ayrı çalışan dil sunucularından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Dosyalar ve yollar (2 dk)
- MDN'nin önerdiği yapı: ana klasör, içinde index.html ve images, styles, scripts klasörleri.
- Göreli yol, sayfanın bulunduğu yere göre çözülür: images/ = "alt klasöre gir", ../ = "bir üst klasöre çık".
- Gerçek örnek: src="kali-cubes.jpg" yazınca resim görünmedi, sadece alt yazısı çıktı. Dosya images klasöründeydi.
- Küçük harf kuralının asıl sebebi: Windows ve macOS Logo.png ile logo.png'yi aynı sayar, web sunucularının çoğunun çalıştığı Linux farklı sayar. GitHub Pages de Linux'ta çalışır; yerelde çalışan site yayında bozulabilir.
Olası soru: "Klasör aslında nedir?" → Dosya sisteminde klasör, içindeki dosya adlarını diskteki dosya kayıtlarına bağlayan bir listedir.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Terminal (2 dk)
- Terminalde yazdıklarımızı okuyan program kabuktur (shell).
- mkdir aslında bir programın adıdır. Kabuk onu PATH'te yazılı klasörlerde arar, bulunca işletim sisteminden çalıştırmasını ister.
- Program klasörü kendisi oluşturmaz; işletim sisteminin çekirdeğinden bir sistem çağrısıyla ister.
- Pipe (|): bir komutun çıktısını diğerine verir. Örnek: ls | wc -l → klasördeki dosya sayısı.
- Laboratuvarda Yusuf bu komutlarla klasör yapısını canlı kuracak.
Olası soru: "git komutunu terminal nasıl buluyor?" → PATH'teki klasörlerde git programını arar; Git kurulu ama PATH'te değilse "command not found" alırız.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file:// ve localhost (1,5 dk)
- Çift tıklayınca adres çubuğunda file:// yazar: tarayıcı dosyayı doğrudan diskten okur.
- Yerel sunucu açınca adres http://localhost veya 127.0.0.1 olur: tarayıcı dosyayı HTTP ile ister.
- Neden önemli: tarayıcılar güvenlik için file:// sayfalarına kısıtlama uygular (ör. fetch ile başka dosyadan veri çekmek). Yerel sunucu siteyi gerçek sunucudaki gibi çalıştırır.
- MDN bunun için VS Code'un Live Preview eklentisini öneriyor.
Olası soru: "localhost internete çıkar mı?" → Hayır; 127.0.0.1 bilgisayarın kendisini gösterir, bilgisayar kendine istek gönderip yanıt alır.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Ağ yolculuğu (2,5 dk)
- 1 DNS: Bilgisayarlar birbirini IP ile bulur. Tarayıcı önce önbelleğine, sonra işletim sistemine, en son DNS sunucularına sorar.
- 2 Bağlantı: TCP üçlü el sıkışma (SYN, SYN-ACK, ACK). https ise üstüne TLS ile şifreli kanal ve sertifika kontrolü.
- 3 HTTP: Sunucu sayfayla birlikte durum kodu döner: 200 başarılı, 404 bulunamadı, 500 sunucu hatası.
- 4 Ek istekler: HTML'de CSS, JS, resim görünce her biri için yeni istek. Örnek: tarayıcı sekme ikonu için kendiliğinden favicon.ico ister; dosya yoksa konsolda zararsız 404 görülür.
- 5 Çizim: HTML'den DOM, CSS'ten CSSOM; birleşip yerleşim hesaplanır ve ekrana boyanır.
- MDN'nin kütüphane benzetmesi: sunucu = kütüphane, site = bölüm, sayfa = kitap, arama motoru = katalog. Arama motoru tarayıcı değildir, tarayıcıyla girdiğimiz bir sitedir.
Olası soru: "Her web bağlantısı TCP mi kullanır?" → Çoğu evet; ancak HTTP/3, TCP yerine QUIC kullanır.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Planlama (1,5 dk)
- MDN'nin önerdiği üç soru: Site ne hakkında? Hangi bilgileri sunacak? Nasıl görünecek?
- Kâğıda kaba bir eskiz yeterli.
- Tema rengi: MDN'nin renk seçicisiyle seçip kodunu not alıyoruz.
- Resim: Google Görseller'de Araçlar → Kullanım hakları → Creative Commons. Lisanssız resim kullanmıyoruz.
- Kendi deneyimimiz: 3840x2160 piksel, 2,4 MB bir resim kullandık. Ekranda en fazla 600 piksel gösteriliyordu; yayında geç yüklendiği için tıklamalar "bazen çalışıyor" gibi göründü. Resmi küçültmek çözüm.
- Yazı tipi: Google Fonts. İnternet yoksa CSS'teki yedek (sans-serif) kullanılır.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HTML iskeleti (2 dk)
- HTML programlama dili değil, işaretleme dili: tarayıcıya "bu bir başlık, bu bir paragraf, bu bir resim" der.
- Element = açılış etiketi + içerik + kapanış etiketi. Özellikler açılış etiketinin içine ad="değer" biçiminde yazılır.
- Boş elementler: &lt;img&gt; gibi, içeriği ve kapanış etiketi olmayanlar.
- Mektup benzetmesi: &lt;head&gt; zarfın üstü (postacıya talimat: charset, başlık, bağlantılar), &lt;body&gt; mektubun kendisi (okuyacağımız yazı).
- &lt;img&gt;'de alt metni şart: resim yüklenemezse veya ekran okuyucu kullanılırsa okunur; resmin ne gösterdiğini anlatmalı.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Tarayıcı HTML'i okur (2 dk)
- HTML makine koduna derlenmez; tarayıcı onu ayrıştırır (parse).
- Baytlar → karakterler (bunun için charset; bilinmezse ş harfi ÅŸ gibi bozulabilir) → etiketler → DOM ağacı.
- DOM: sayfanın bellekteki ağaç hali. JavaScript bu ağaçta öğe bulur ve değiştirir.
- HTML hata vermez: Bizim projede &lt;head&gt; içine CSS tarzı bir yorum (/* */) yazıldı; tarayıcı &lt;head&gt;'i kapattı ve not sayfanın üstünde göründü. HTML yorumu &lt;!-- --&gt; ile yazılır.
- Doctype yoksa Quirks Mode: eski siteleri bozmamak için var. Sayfa çökmez ama bazı ölçüler farklı hesaplanır. Konsolda document.compatMode ile kontrol edilir.
Olası soru: "Semantik etiketler neden önemli?" → Tarayıcı DOM'dan bir erişilebilirlik ağacı çıkarır; ekran okuyucular &lt;header&gt;, &lt;nav&gt;, &lt;main&gt; gibi etiketlerden sayfanın bölümlerini anlar.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CSS ve kutu modeli (2 dk)
- CSS stil dilidir: HTML "burada başlık var" der, CSS "başlık nasıl görünsün" der. CSS dosyası &lt;head&gt;'de &lt;link&gt; ile bağlanır.
- Kural = seçici + { özellik: değer; }. Okunuşu: "bütün paragrafların yazı rengini kırmızı yap."
- Kutu modeli benzetmesi: duvara asılı çerçeveli tablo. İçerik = tablo, padding = paspartu, border = çerçeve, margin = duvardaki boşluk.
- Bizim deneyimimiz: padding: 0 auto yazdık; auto sadece margin'de geçerli. CSS anlamadığı satırı sessizce yok saydı, yazılar kenara yapıştı.
- width ile max-width farkı: jürinin "sayfayı daralt" testinin cevabı.
Olası soru (Samet cevaplayabilir): "CSS neden sayfanın çizilmesini bekletir?" → Tarayıcı stilsiz bir ara görüntü göstermemek için CSS inene kadar ilk çizimi bekletir (render-blocking).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JavaScript (2 dk)
- JavaScript sayfaya etkileşim ekleyen programlama dili.
- Benzetme: HTML evin iskeleti, CSS boyası, JavaScript elektriği. addEventListener kapı zili gibi: zil takılır, biri basınca içeride çalar.
- Temel yapı taşları: değişkenler (let, const), koşullar (if/else), fonksiyonlar, olaylar.
- Bizim sitede iki örnek: resim değiştirici ve localStorage ile adı hatırlayan karşılama mesajı.
- İki iyileştirme: defer (MDN örneğinde async var; defer, JS'in henüz okunmamış öğeleri aramasını önler) ve return (MDN kodunda İptal'e basınca fonksiyon kendini tekrar çağırıyor).
- Ayrıntılı kodu laboratuvarda Yusuf satır satır gösterecek.
Olası soru (Samet cevaplayabilir): "JavaScript kodu nasıl çalışır?" → Tarayıcıdaki JS motoru (Chrome'da V8, Firefox'ta SpiderMonkey) kodu çalıştırır; sık çalışan kısımları çalışma sırasında makine koduna çevirip hızlandırır (JIT).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SAMET — Yayınlama (2 dk)
- MDN üç yol sayıyor: barındırma + alan adı satın almak, GitHub Pages/Netlify gibi çevrimiçi araçlar, CodePen gibi tarayıcı tabanlı editörler.
- MDN'nin anlattığı yöntem GitHub Pages: hesap aç, kullanıcıadı.github.io adlı depo oluştur, dosyaları sürükle-bırak ile yükle, Commit changes. Birkaç dakika sonra site yayında. Git veya terminal bilgisi bile gerekmiyor.
- Biz terminalden Git ile yayınladık: serhat-92.github.io.
- GitHub Pages sadece statik dosya sunar: HTML, CSS, JS, resim. Sunucu tarafında kod çalıştırmaz.
- Yerelde çalışıp yayında bozulma sebepleri: Linux'ta büyük/küçük harf farkı, ağ yüzünden büyük dosyaların geç gelmesi.
Olası soru: "Alan adı alınca neden hemen her yerde çalışmaz?" → DNS kayıtları önbelleklerde TTL süresi dolana kadar eski haliyle kalabilir.
Olası soru: "Git dosyaları şifreler mi?" → Hayır. Her commit içerikten hesaplanan bir özetle (SHA-1 hash) adlandırılır; parmak izi gibidir, şifre değildir.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ORKUN — Kapanış (1 dk)
- Özet: Ortamı hazırladık, tarayıcının sayfayı nasıl getirip çizdiğini gördük, HTML/CSS/JS ile siteyi kurduk ve GitHub Pages ile yayına aldık.
- Laboratuvarda Yusuf aynı sitenin kodunu satır satır gösterecek; ardından gerçekten yaşadığımız hatalardan hazırlanan sorularla soru-cevap yapacağız.
- Teşekkürler.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Sancak  /  Faz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YU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SANCAK  /  Getting Started Modules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16002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FAZ 1  ·  ENVIRONMENT SETUP + YOUR FIRST WEBSITE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İlk Web Sitemiz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2EE"/>
                </a:solidFill>
              </a:rPr>
              <a:t>Araçlardan yayına: bir web sayfası nasıl hazırlanır, tarayıcıda nasıl açılır?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Sancak takımı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Samet Demir  ·  Çeviri ve mimari slayt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Orkun Yaşar Soner  ·  Teori sunumu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Yusuf Serhat Tümtürk  ·  Canlı kod ve soru-cevap (laboratuvar)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2D1"/>
                </a:solidFill>
              </a:rPr>
              <a:t>Uyarı: Bu içerik, SCÜ Şarkışla UBYO Web Programlama I dersi kapsamında tamamen eğitim amaçlı çevrilmiş ve derlenmiştir. Orijinal dokümantasyon kaynakları (MDN Web Docs vb.) kendi orijinal lisanslarına (CC-BY-SA, MIT) tabidir. Bu çalışmanın hiçbir ticari amacı yoktur.</a:t>
            </a:r>
            <a:endParaRPr lang="en-US" sz="900" dirty="0"/>
          </a:p>
        </p:txBody>
      </p:sp>
      <p:sp>
        <p:nvSpPr>
          <p:cNvPr id="7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GİRİŞ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Bugün neyi göreceğiz?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rt"/>
          <p:cNvSpPr/>
          <p:nvPr/>
        </p:nvSpPr>
        <p:spPr>
          <a:xfrm>
            <a:off x="548640" y="1600200"/>
            <a:ext cx="3331464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28216"/>
            <a:ext cx="300228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1. Ortamı hazırla</a:t>
            </a:r>
            <a:endParaRPr lang="en-US" sz="2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Araçları kur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Tarayıcıyı tanı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Kod editörü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Dosyalar ve yollar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Terminal</a:t>
            </a:r>
            <a:endParaRPr lang="en-US" sz="2400" dirty="0"/>
          </a:p>
        </p:txBody>
      </p:sp>
      <p:sp>
        <p:nvSpPr>
          <p:cNvPr id="7" name="ok"/>
          <p:cNvSpPr/>
          <p:nvPr/>
        </p:nvSpPr>
        <p:spPr>
          <a:xfrm>
            <a:off x="3934968" y="2903220"/>
            <a:ext cx="43891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kart"/>
          <p:cNvSpPr/>
          <p:nvPr/>
        </p:nvSpPr>
        <p:spPr>
          <a:xfrm>
            <a:off x="4428744" y="1600200"/>
            <a:ext cx="3331464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3336" y="1728216"/>
            <a:ext cx="300228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 Siteyi yap</a:t>
            </a:r>
            <a:endParaRPr lang="en-US" sz="2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Planla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HTML: iskelet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CSS: görünüm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JavaScript: davranış</a:t>
            </a:r>
            <a:endParaRPr lang="en-US" sz="2400" dirty="0"/>
          </a:p>
        </p:txBody>
      </p:sp>
      <p:sp>
        <p:nvSpPr>
          <p:cNvPr id="10" name="ok"/>
          <p:cNvSpPr/>
          <p:nvPr/>
        </p:nvSpPr>
        <p:spPr>
          <a:xfrm>
            <a:off x="7815072" y="2903220"/>
            <a:ext cx="43891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kart"/>
          <p:cNvSpPr/>
          <p:nvPr/>
        </p:nvSpPr>
        <p:spPr>
          <a:xfrm>
            <a:off x="8308848" y="1600200"/>
            <a:ext cx="3331464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73440" y="1728216"/>
            <a:ext cx="300228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 Yayına al</a:t>
            </a:r>
            <a:endParaRPr lang="en-US" sz="2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GitHub Pages</a:t>
            </a:r>
            <a:endParaRPr lang="en-US" sz="2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Herkesin açabildiği bir adres</a:t>
            </a:r>
            <a:endParaRPr lang="en-US" sz="2400" dirty="0"/>
          </a:p>
        </p:txBody>
      </p:sp>
      <p:sp>
        <p:nvSpPr>
          <p:cNvPr id="13" name="not"/>
          <p:cNvSpPr/>
          <p:nvPr/>
        </p:nvSpPr>
        <p:spPr>
          <a:xfrm>
            <a:off x="548640" y="45262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Örnek sitemiz: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serhat-92.github.io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—  laboratuvarda bu sitenin kodunu satır satır göreceğiz.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İşe başlamadan önce: araç çantası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Installing basic software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2276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Kod editörü</a:t>
            </a:r>
            <a:endParaRPr lang="en-US" sz="2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Kodu yazdığımız program.</a:t>
            </a:r>
            <a:endParaRPr lang="en-US" sz="2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MDN önerisi: Visual Studio Code</a:t>
            </a:r>
            <a:endParaRPr lang="en-US" sz="2100" dirty="0"/>
          </a:p>
        </p:txBody>
      </p:sp>
      <p:sp>
        <p:nvSpPr>
          <p:cNvPr id="8" name="kart"/>
          <p:cNvSpPr/>
          <p:nvPr/>
        </p:nvSpPr>
        <p:spPr>
          <a:xfrm>
            <a:off x="3376879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1471" y="1728216"/>
            <a:ext cx="2276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İki tarayıcı</a:t>
            </a:r>
            <a:endParaRPr lang="en-US" sz="2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Kodu test ettiğimiz yer.</a:t>
            </a:r>
            <a:endParaRPr lang="en-US" sz="2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En az iki farklı motor: örneğin Firefox ve Chrome</a:t>
            </a:r>
            <a:endParaRPr lang="en-US" sz="2100" dirty="0"/>
          </a:p>
        </p:txBody>
      </p:sp>
      <p:sp>
        <p:nvSpPr>
          <p:cNvPr id="10" name="kart"/>
          <p:cNvSpPr/>
          <p:nvPr/>
        </p:nvSpPr>
        <p:spPr>
          <a:xfrm>
            <a:off x="6205118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9710" y="1728216"/>
            <a:ext cx="2276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Yerel sunucu</a:t>
            </a:r>
            <a:endParaRPr lang="en-US" sz="2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Siteyi kendi bilgisayarımızda sunucudan açar.</a:t>
            </a:r>
            <a:endParaRPr lang="en-US" sz="2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VS Code: Live Preview eklentisi</a:t>
            </a:r>
            <a:endParaRPr lang="en-US" sz="2100" dirty="0"/>
          </a:p>
        </p:txBody>
      </p:sp>
      <p:sp>
        <p:nvSpPr>
          <p:cNvPr id="12" name="kart"/>
          <p:cNvSpPr/>
          <p:nvPr/>
        </p:nvSpPr>
        <p:spPr>
          <a:xfrm>
            <a:off x="9033358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7950" y="1728216"/>
            <a:ext cx="2276856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Grafik editörü</a:t>
            </a:r>
            <a:endParaRPr lang="en-US" sz="2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Resim kırpma ve küçültme.</a:t>
            </a:r>
            <a:endParaRPr lang="en-US" sz="2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İsteğe bağlı, hazır gelen programlar yeter</a:t>
            </a:r>
            <a:endParaRPr lang="en-US" sz="2100" dirty="0"/>
          </a:p>
        </p:txBody>
      </p:sp>
      <p:sp>
        <p:nvSpPr>
          <p:cNvPr id="14" name="not"/>
          <p:cNvSpPr/>
          <p:nvPr/>
        </p:nvSpPr>
        <p:spPr>
          <a:xfrm>
            <a:off x="548640" y="425196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Benzetme: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Aşçı yemeğe başlamadan bıçağını, tezgâhını ve ocağını hazırlar. Biz de koda başlamadan araçlarımızı hazırlarız. Git gibi araçlar ilerleyen adımlarda gelecek.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Tarayıcı sayısı değil, motor sayısı önemli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Installing basic software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Blink</a:t>
            </a:r>
            <a:endParaRPr lang="en-US" sz="2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2"/>
                </a:solidFill>
              </a:rPr>
              <a:t>Chromium tabanlı</a:t>
            </a:r>
            <a:endParaRPr lang="en-US" sz="2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Chrome, Edge, Opera, Brave, Vivaldi</a:t>
            </a:r>
            <a:endParaRPr lang="en-US" sz="2600" dirty="0"/>
          </a:p>
        </p:txBody>
      </p:sp>
      <p:sp>
        <p:nvSpPr>
          <p:cNvPr id="8" name="kart"/>
          <p:cNvSpPr/>
          <p:nvPr/>
        </p:nvSpPr>
        <p:spPr>
          <a:xfrm>
            <a:off x="4334256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8848" y="1728216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Gecko</a:t>
            </a:r>
            <a:endParaRPr lang="en-US" sz="2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2"/>
                </a:solidFill>
              </a:rPr>
              <a:t>Mozilla</a:t>
            </a:r>
            <a:endParaRPr lang="en-US" sz="2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Firefox</a:t>
            </a:r>
            <a:endParaRPr lang="en-US" sz="2600" dirty="0"/>
          </a:p>
        </p:txBody>
      </p:sp>
      <p:sp>
        <p:nvSpPr>
          <p:cNvPr id="10" name="kart"/>
          <p:cNvSpPr/>
          <p:nvPr/>
        </p:nvSpPr>
        <p:spPr>
          <a:xfrm>
            <a:off x="8119872" y="160020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728216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WebKit</a:t>
            </a:r>
            <a:endParaRPr lang="en-US" sz="2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2"/>
                </a:solidFill>
              </a:rPr>
              <a:t>Apple</a:t>
            </a:r>
            <a:endParaRPr lang="en-US" sz="2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Safari ve iPhone tarayıcıları</a:t>
            </a:r>
            <a:endParaRPr lang="en-US" sz="2600" dirty="0"/>
          </a:p>
        </p:txBody>
      </p:sp>
      <p:sp>
        <p:nvSpPr>
          <p:cNvPr id="12" name="kart"/>
          <p:cNvSpPr/>
          <p:nvPr/>
        </p:nvSpPr>
        <p:spPr>
          <a:xfrm>
            <a:off x="548640" y="370332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31336"/>
            <a:ext cx="5111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✗  Chrome + Edge</a:t>
            </a:r>
            <a:endParaRPr lang="en-US" sz="1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Farklı marka, aynı motor (Blink). Bu, iki ayrı test sayılmaz.</a:t>
            </a:r>
            <a:endParaRPr lang="en-US" sz="1900" dirty="0"/>
          </a:p>
        </p:txBody>
      </p:sp>
      <p:sp>
        <p:nvSpPr>
          <p:cNvPr id="14" name="kart"/>
          <p:cNvSpPr/>
          <p:nvPr/>
        </p:nvSpPr>
        <p:spPr>
          <a:xfrm>
            <a:off x="6199632" y="3703320"/>
            <a:ext cx="54406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3831336"/>
            <a:ext cx="511149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✓  Chrome + Firefox</a:t>
            </a:r>
            <a:endParaRPr lang="en-US" sz="1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İki farklı motor (Blink + Gecko). Bir motorda çıkan hata diğerinde yakalanır.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Neden Word değil de kod editörü?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Code editors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511149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Word belgesi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Ekranda: Merhaba</a:t>
            </a:r>
            <a:endParaRPr lang="en-US" sz="2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Dosyanın içinde: yazı + yazı tipi, boyut, renk, sayfa düzeni gibi görünmeyen biçim bilgileri</a:t>
            </a:r>
            <a:endParaRPr lang="en-US" sz="2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4"/>
                </a:solidFill>
              </a:rPr>
              <a:t>Tarayıcı bu dosyayı düzgün okuyamaz.</a:t>
            </a:r>
            <a:endParaRPr lang="en-US" sz="2000" dirty="0"/>
          </a:p>
        </p:txBody>
      </p:sp>
      <p:sp>
        <p:nvSpPr>
          <p:cNvPr id="8" name="kart"/>
          <p:cNvSpPr/>
          <p:nvPr/>
        </p:nvSpPr>
        <p:spPr>
          <a:xfrm>
            <a:off x="6199632" y="16002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4224" y="1728216"/>
            <a:ext cx="511149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.html dosyası (düz metin)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Ekranda ve dosyanın içinde aynı şey:</a:t>
            </a:r>
            <a:endParaRPr lang="en-US" sz="2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&lt;h1&gt;Merhaba&lt;/h1&gt;</a:t>
            </a:r>
            <a:endParaRPr lang="en-US" sz="2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5"/>
                </a:solidFill>
              </a:rPr>
              <a:t>Tarayıcı yazdığımız karakterleri aynen okur.</a:t>
            </a:r>
            <a:endParaRPr lang="en-US" sz="2000" dirty="0"/>
          </a:p>
        </p:txBody>
      </p:sp>
      <p:sp>
        <p:nvSpPr>
          <p:cNvPr id="10" name="ozellik"/>
          <p:cNvSpPr/>
          <p:nvPr/>
        </p:nvSpPr>
        <p:spPr>
          <a:xfrm>
            <a:off x="548640" y="4023360"/>
            <a:ext cx="356616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Sözdizimi renklendirme</a:t>
            </a:r>
            <a:endParaRPr lang="en-US" sz="1600" dirty="0"/>
          </a:p>
        </p:txBody>
      </p:sp>
      <p:sp>
        <p:nvSpPr>
          <p:cNvPr id="11" name="ozellik"/>
          <p:cNvSpPr/>
          <p:nvPr/>
        </p:nvSpPr>
        <p:spPr>
          <a:xfrm>
            <a:off x="4311396" y="4023360"/>
            <a:ext cx="356616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Otomatik tamamlama</a:t>
            </a:r>
            <a:endParaRPr lang="en-US" sz="1600" dirty="0"/>
          </a:p>
        </p:txBody>
      </p:sp>
      <p:sp>
        <p:nvSpPr>
          <p:cNvPr id="12" name="ozellik"/>
          <p:cNvSpPr/>
          <p:nvPr/>
        </p:nvSpPr>
        <p:spPr>
          <a:xfrm>
            <a:off x="8074152" y="4023360"/>
            <a:ext cx="356616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Prettier + Format On Save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Prettier: kaydettiğimiz anda kodu düzgün girintiye sokar. Kodun ne yaptığını değiştirmez, sadece okunmasını kolaylaştırır.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Klasör yapısı ve dosya yolları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Dealing with files</a:t>
            </a:r>
            <a:endParaRPr lang="en-US" sz="1000" dirty="0"/>
          </a:p>
        </p:txBody>
      </p:sp>
      <p:sp>
        <p:nvSpPr>
          <p:cNvPr id="6" name="agac"/>
          <p:cNvSpPr/>
          <p:nvPr/>
        </p:nvSpPr>
        <p:spPr>
          <a:xfrm>
            <a:off x="548640" y="1600200"/>
            <a:ext cx="420624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EB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first-website/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8F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kali-cubes.jpg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8F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styles/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8F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scripts/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main.js</a:t>
            </a:r>
            <a:endParaRPr lang="en-US" sz="1600" dirty="0"/>
          </a:p>
        </p:txBody>
      </p:sp>
      <p:sp>
        <p:nvSpPr>
          <p:cNvPr id="8" name="kart"/>
          <p:cNvSpPr/>
          <p:nvPr/>
        </p:nvSpPr>
        <p:spPr>
          <a:xfrm>
            <a:off x="5029200" y="1600200"/>
            <a:ext cx="6611112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792" y="1728216"/>
            <a:ext cx="6281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✓  src="images/kali-cubes.jpg"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Tarayıcı, index.html'in yanındaki images klasörüne girer ve resmi bulur.</a:t>
            </a:r>
            <a:endParaRPr lang="en-US" sz="1700" dirty="0"/>
          </a:p>
        </p:txBody>
      </p:sp>
      <p:sp>
        <p:nvSpPr>
          <p:cNvPr id="10" name="kart"/>
          <p:cNvSpPr/>
          <p:nvPr/>
        </p:nvSpPr>
        <p:spPr>
          <a:xfrm>
            <a:off x="5029200" y="3337560"/>
            <a:ext cx="6611112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3792" y="3465576"/>
            <a:ext cx="62819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✗  src="kali-cubes.jpg"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Tarayıcı resmi index.html'in yanında arar, bulamaz ve yerine alt yazısını gösterir. Bizim yaşadığımız gerçek hata.</a:t>
            </a:r>
            <a:endParaRPr lang="en-US" sz="1700" dirty="0"/>
          </a:p>
        </p:txBody>
      </p:sp>
      <p:sp>
        <p:nvSpPr>
          <p:cNvPr id="12" name="not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Kurallar: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küçük harf  ·  boşluk yerine tire (my-file.html)  ·  uzantıları göster  ·  Linux'ta Logo.png ≠ logo.png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Terminal bir komutu nasıl çalıştırır?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Command line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1940357" cy="2057400"/>
          </a:xfrm>
          <a:prstGeom prst="roundRect">
            <a:avLst>
              <a:gd name="adj" fmla="val 37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1611173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Yazarız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images</a:t>
            </a:r>
            <a:endParaRPr lang="en-US" sz="1500" dirty="0"/>
          </a:p>
        </p:txBody>
      </p:sp>
      <p:sp>
        <p:nvSpPr>
          <p:cNvPr id="8" name="ok"/>
          <p:cNvSpPr/>
          <p:nvPr/>
        </p:nvSpPr>
        <p:spPr>
          <a:xfrm>
            <a:off x="2543861" y="262890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2836469" y="1600200"/>
            <a:ext cx="1940357" cy="2057400"/>
          </a:xfrm>
          <a:prstGeom prst="roundRect">
            <a:avLst>
              <a:gd name="adj" fmla="val 37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1061" y="1728216"/>
            <a:ext cx="1611173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Kabuk okur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Bash, Zsh veya PowerShell komutu çözümler</a:t>
            </a:r>
            <a:endParaRPr lang="en-US" sz="1500" dirty="0"/>
          </a:p>
        </p:txBody>
      </p:sp>
      <p:sp>
        <p:nvSpPr>
          <p:cNvPr id="11" name="ok"/>
          <p:cNvSpPr/>
          <p:nvPr/>
        </p:nvSpPr>
        <p:spPr>
          <a:xfrm>
            <a:off x="4831690" y="262890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kart"/>
          <p:cNvSpPr/>
          <p:nvPr/>
        </p:nvSpPr>
        <p:spPr>
          <a:xfrm>
            <a:off x="5124298" y="1600200"/>
            <a:ext cx="1940357" cy="2057400"/>
          </a:xfrm>
          <a:prstGeom prst="roundRect">
            <a:avLst>
              <a:gd name="adj" fmla="val 37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8890" y="1728216"/>
            <a:ext cx="1611173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Programı bulur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PATH'teki klasörlerde mkdir programını arar</a:t>
            </a:r>
            <a:endParaRPr lang="en-US" sz="1500" dirty="0"/>
          </a:p>
        </p:txBody>
      </p:sp>
      <p:sp>
        <p:nvSpPr>
          <p:cNvPr id="14" name="ok"/>
          <p:cNvSpPr/>
          <p:nvPr/>
        </p:nvSpPr>
        <p:spPr>
          <a:xfrm>
            <a:off x="7119518" y="262890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7412126" y="1600200"/>
            <a:ext cx="1940357" cy="2057400"/>
          </a:xfrm>
          <a:prstGeom prst="roundRect">
            <a:avLst>
              <a:gd name="adj" fmla="val 37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6718" y="1728216"/>
            <a:ext cx="1611173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Çekirdeğe sorar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Program, işletim sisteminden klasör ister (sistem çağrısı)</a:t>
            </a:r>
            <a:endParaRPr lang="en-US" sz="1500" dirty="0"/>
          </a:p>
        </p:txBody>
      </p:sp>
      <p:sp>
        <p:nvSpPr>
          <p:cNvPr id="17" name="ok"/>
          <p:cNvSpPr/>
          <p:nvPr/>
        </p:nvSpPr>
        <p:spPr>
          <a:xfrm>
            <a:off x="9407347" y="262890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kart"/>
          <p:cNvSpPr/>
          <p:nvPr/>
        </p:nvSpPr>
        <p:spPr>
          <a:xfrm>
            <a:off x="9699955" y="1600200"/>
            <a:ext cx="1940357" cy="2057400"/>
          </a:xfrm>
          <a:prstGeom prst="roundRect">
            <a:avLst>
              <a:gd name="adj" fmla="val 377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64547" y="1728216"/>
            <a:ext cx="1611173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Klasör hazır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Diskte images klasörü oluşur</a:t>
            </a:r>
            <a:endParaRPr lang="en-US" sz="1500" dirty="0"/>
          </a:p>
        </p:txBody>
      </p:sp>
      <p:sp>
        <p:nvSpPr>
          <p:cNvPr id="20" name="komut"/>
          <p:cNvSpPr/>
          <p:nvPr/>
        </p:nvSpPr>
        <p:spPr>
          <a:xfrm>
            <a:off x="548640" y="397764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klasöre gir</a:t>
            </a:r>
            <a:endParaRPr lang="en-US" sz="1600" dirty="0"/>
          </a:p>
        </p:txBody>
      </p:sp>
      <p:sp>
        <p:nvSpPr>
          <p:cNvPr id="21" name="komut"/>
          <p:cNvSpPr/>
          <p:nvPr/>
        </p:nvSpPr>
        <p:spPr>
          <a:xfrm>
            <a:off x="4311396" y="397764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listele</a:t>
            </a:r>
            <a:endParaRPr lang="en-US" sz="1600" dirty="0"/>
          </a:p>
        </p:txBody>
      </p:sp>
      <p:sp>
        <p:nvSpPr>
          <p:cNvPr id="22" name="komut"/>
          <p:cNvSpPr/>
          <p:nvPr/>
        </p:nvSpPr>
        <p:spPr>
          <a:xfrm>
            <a:off x="8074152" y="397764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klasör aç</a:t>
            </a:r>
            <a:endParaRPr lang="en-US" sz="1600" dirty="0"/>
          </a:p>
        </p:txBody>
      </p:sp>
      <p:sp>
        <p:nvSpPr>
          <p:cNvPr id="23" name="komut"/>
          <p:cNvSpPr/>
          <p:nvPr/>
        </p:nvSpPr>
        <p:spPr>
          <a:xfrm>
            <a:off x="548640" y="470916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boş dosya</a:t>
            </a:r>
            <a:endParaRPr lang="en-US" sz="1600" dirty="0"/>
          </a:p>
        </p:txBody>
      </p:sp>
      <p:sp>
        <p:nvSpPr>
          <p:cNvPr id="24" name="komut"/>
          <p:cNvSpPr/>
          <p:nvPr/>
        </p:nvSpPr>
        <p:spPr>
          <a:xfrm>
            <a:off x="4311396" y="470916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kopyala</a:t>
            </a:r>
            <a:endParaRPr lang="en-US" sz="1600" dirty="0"/>
          </a:p>
        </p:txBody>
      </p:sp>
      <p:sp>
        <p:nvSpPr>
          <p:cNvPr id="25" name="komut"/>
          <p:cNvSpPr/>
          <p:nvPr/>
        </p:nvSpPr>
        <p:spPr>
          <a:xfrm>
            <a:off x="8074152" y="470916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taşı / adını değiştir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Dosya Gezgini'nde "Yeni Klasör" dediğimizde de sonunda aynı istek yapılır. Fark sadece arayüzdedir.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ORTAM KURULUMU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Çift tıklamak ile yerel sunucu arasındaki fark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Installing basic software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21945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index.html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diskteki dosya</a:t>
            </a:r>
            <a:endParaRPr lang="en-US" sz="1700" dirty="0"/>
          </a:p>
        </p:txBody>
      </p:sp>
      <p:sp>
        <p:nvSpPr>
          <p:cNvPr id="8" name="ok"/>
          <p:cNvSpPr/>
          <p:nvPr/>
        </p:nvSpPr>
        <p:spPr>
          <a:xfrm>
            <a:off x="2834640" y="2194560"/>
            <a:ext cx="42062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7132320" y="16002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96912" y="1728216"/>
            <a:ext cx="4178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Tarayıcı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file:///home/.../index.html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!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Tarayıcı dosyayı doğrudan diskten okur. Güvenlik nedeniyle fetch() ve JavaScript modülleri gibi bazı özellikler engellenebilir.</a:t>
            </a:r>
            <a:endParaRPr lang="en-US" sz="1500" dirty="0"/>
          </a:p>
        </p:txBody>
      </p:sp>
      <p:sp>
        <p:nvSpPr>
          <p:cNvPr id="12" name="kart"/>
          <p:cNvSpPr/>
          <p:nvPr/>
        </p:nvSpPr>
        <p:spPr>
          <a:xfrm>
            <a:off x="548640" y="3657600"/>
            <a:ext cx="21945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785616"/>
            <a:ext cx="18653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index.html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diskteki dosya</a:t>
            </a:r>
            <a:endParaRPr lang="en-US" sz="1700" dirty="0"/>
          </a:p>
        </p:txBody>
      </p:sp>
      <p:sp>
        <p:nvSpPr>
          <p:cNvPr id="14" name="ok"/>
          <p:cNvSpPr/>
          <p:nvPr/>
        </p:nvSpPr>
        <p:spPr>
          <a:xfrm>
            <a:off x="2834640" y="4251960"/>
            <a:ext cx="6858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3611880" y="365760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76472" y="3785616"/>
            <a:ext cx="23225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Yerel sunucu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Live Preview</a:t>
            </a:r>
            <a:endParaRPr lang="en-US" sz="1700" dirty="0"/>
          </a:p>
        </p:txBody>
      </p:sp>
      <p:sp>
        <p:nvSpPr>
          <p:cNvPr id="17" name="ok"/>
          <p:cNvSpPr/>
          <p:nvPr/>
        </p:nvSpPr>
        <p:spPr>
          <a:xfrm>
            <a:off x="6355080" y="4251960"/>
            <a:ext cx="6858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kart"/>
          <p:cNvSpPr/>
          <p:nvPr/>
        </p:nvSpPr>
        <p:spPr>
          <a:xfrm>
            <a:off x="7132320" y="3657600"/>
            <a:ext cx="4507992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785616"/>
            <a:ext cx="41788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Tarayıcı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http://127.0.0.1:3000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Dosya, gerçek bir siteden ister gibi HTTP ile istenir. Site, yayındaki haline yakın çalışır.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127.0.0.1 (localhost) = bilgisayarın kendisi. İstek ağ kartından dışarı çıkmaz.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WEB'DE GEZİNMEK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Adres çubuğuna yazınca ne olur?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Browsing the web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1940357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161117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DNS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İsim → IP adresi. Rehberden numara bulmak gibi.</a:t>
            </a:r>
            <a:endParaRPr lang="en-US" sz="1700" dirty="0"/>
          </a:p>
        </p:txBody>
      </p:sp>
      <p:sp>
        <p:nvSpPr>
          <p:cNvPr id="8" name="ok"/>
          <p:cNvSpPr/>
          <p:nvPr/>
        </p:nvSpPr>
        <p:spPr>
          <a:xfrm>
            <a:off x="2543861" y="25603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2836469" y="1600200"/>
            <a:ext cx="1940357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1061" y="1728216"/>
            <a:ext cx="161117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Bağlantı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TCP ile bağlan. https ise TLS ile şifrele.</a:t>
            </a:r>
            <a:endParaRPr lang="en-US" sz="1700" dirty="0"/>
          </a:p>
        </p:txBody>
      </p:sp>
      <p:sp>
        <p:nvSpPr>
          <p:cNvPr id="11" name="ok"/>
          <p:cNvSpPr/>
          <p:nvPr/>
        </p:nvSpPr>
        <p:spPr>
          <a:xfrm>
            <a:off x="4831690" y="25603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kart"/>
          <p:cNvSpPr/>
          <p:nvPr/>
        </p:nvSpPr>
        <p:spPr>
          <a:xfrm>
            <a:off x="5124298" y="1600200"/>
            <a:ext cx="1940357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88890" y="1728216"/>
            <a:ext cx="161117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HTTP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İstek gönder, yanıt al: 200 tamam, 404 bulunamadı.</a:t>
            </a:r>
            <a:endParaRPr lang="en-US" sz="1700" dirty="0"/>
          </a:p>
        </p:txBody>
      </p:sp>
      <p:sp>
        <p:nvSpPr>
          <p:cNvPr id="14" name="ok"/>
          <p:cNvSpPr/>
          <p:nvPr/>
        </p:nvSpPr>
        <p:spPr>
          <a:xfrm>
            <a:off x="7119518" y="25603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7412126" y="1600200"/>
            <a:ext cx="1940357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6718" y="1728216"/>
            <a:ext cx="161117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Ek istekler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CSS, JS, resim, font ve favicon.ico için yeni istekler.</a:t>
            </a:r>
            <a:endParaRPr lang="en-US" sz="1700" dirty="0"/>
          </a:p>
        </p:txBody>
      </p:sp>
      <p:sp>
        <p:nvSpPr>
          <p:cNvPr id="17" name="ok"/>
          <p:cNvSpPr/>
          <p:nvPr/>
        </p:nvSpPr>
        <p:spPr>
          <a:xfrm>
            <a:off x="9407347" y="25603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kart"/>
          <p:cNvSpPr/>
          <p:nvPr/>
        </p:nvSpPr>
        <p:spPr>
          <a:xfrm>
            <a:off x="9699955" y="1600200"/>
            <a:ext cx="1940357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64547" y="1728216"/>
            <a:ext cx="1611173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5. Çizim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DOM + CSSOM → yerleşim → ekrana boyama.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40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MDN'nin benzetmesi: web bir kütüphanedir</a:t>
            </a:r>
            <a:endParaRPr lang="en-US" sz="1600" dirty="0"/>
          </a:p>
        </p:txBody>
      </p:sp>
      <p:sp>
        <p:nvSpPr>
          <p:cNvPr id="21" name="benzetme"/>
          <p:cNvSpPr/>
          <p:nvPr/>
        </p:nvSpPr>
        <p:spPr>
          <a:xfrm>
            <a:off x="548640" y="429768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Sunucu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= kütüphane</a:t>
            </a:r>
            <a:endParaRPr lang="en-US" sz="1700" dirty="0"/>
          </a:p>
        </p:txBody>
      </p:sp>
      <p:sp>
        <p:nvSpPr>
          <p:cNvPr id="22" name="benzetme"/>
          <p:cNvSpPr/>
          <p:nvPr/>
        </p:nvSpPr>
        <p:spPr>
          <a:xfrm>
            <a:off x="3376879" y="429768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 sitesi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= bölüm</a:t>
            </a:r>
            <a:endParaRPr lang="en-US" sz="1700" dirty="0"/>
          </a:p>
        </p:txBody>
      </p:sp>
      <p:sp>
        <p:nvSpPr>
          <p:cNvPr id="23" name="benzetme"/>
          <p:cNvSpPr/>
          <p:nvPr/>
        </p:nvSpPr>
        <p:spPr>
          <a:xfrm>
            <a:off x="6205118" y="429768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Web sayfası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= kitap</a:t>
            </a:r>
            <a:endParaRPr lang="en-US" sz="1700" dirty="0"/>
          </a:p>
        </p:txBody>
      </p:sp>
      <p:sp>
        <p:nvSpPr>
          <p:cNvPr id="24" name="benzetme"/>
          <p:cNvSpPr/>
          <p:nvPr/>
        </p:nvSpPr>
        <p:spPr>
          <a:xfrm>
            <a:off x="9033358" y="4297680"/>
            <a:ext cx="2606040" cy="960120"/>
          </a:xfrm>
          <a:prstGeom prst="roundRect">
            <a:avLst>
              <a:gd name="adj" fmla="val 7619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Arama motoru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= katalog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İLK WEB SİTEMİZ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Kod yazmadan önce: siteyi planla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What will your website look like?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22768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Konu ve eskiz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Site ne hakkında?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Başlık, resim ve yazının yerini kâğıda kabaca çiz.</a:t>
            </a:r>
            <a:endParaRPr lang="en-US" sz="1800" dirty="0"/>
          </a:p>
        </p:txBody>
      </p:sp>
      <p:sp>
        <p:nvSpPr>
          <p:cNvPr id="8" name="kart"/>
          <p:cNvSpPr/>
          <p:nvPr/>
        </p:nvSpPr>
        <p:spPr>
          <a:xfrm>
            <a:off x="3376879" y="160020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1471" y="1728216"/>
            <a:ext cx="22768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Tema rengi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Bir renk seç, kodunu not al:</a:t>
            </a:r>
            <a:endParaRPr lang="en-US" sz="1800" dirty="0"/>
          </a:p>
        </p:txBody>
      </p:sp>
      <p:sp>
        <p:nvSpPr>
          <p:cNvPr id="10" name="renk"/>
          <p:cNvSpPr/>
          <p:nvPr/>
        </p:nvSpPr>
        <p:spPr>
          <a:xfrm>
            <a:off x="3605479" y="292608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1319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#00539f</a:t>
            </a:r>
            <a:endParaRPr lang="en-US" sz="1500" dirty="0"/>
          </a:p>
        </p:txBody>
      </p:sp>
      <p:sp>
        <p:nvSpPr>
          <p:cNvPr id="12" name="kart"/>
          <p:cNvSpPr/>
          <p:nvPr/>
        </p:nvSpPr>
        <p:spPr>
          <a:xfrm>
            <a:off x="6205118" y="160020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9710" y="1728216"/>
            <a:ext cx="22768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Resim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Creative Commons lisanslı olsun.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4"/>
                </a:solidFill>
              </a:rPr>
              <a:t>Boyutuna dikkat: 2,4 MB'lık 4K resim yayında geç yüklendi.</a:t>
            </a:r>
            <a:endParaRPr lang="en-US" sz="1800" dirty="0"/>
          </a:p>
        </p:txBody>
      </p:sp>
      <p:sp>
        <p:nvSpPr>
          <p:cNvPr id="14" name="kart"/>
          <p:cNvSpPr/>
          <p:nvPr/>
        </p:nvSpPr>
        <p:spPr>
          <a:xfrm>
            <a:off x="9033358" y="160020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7950" y="1728216"/>
            <a:ext cx="227685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Yazı tipi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Google Fonts'tan seç.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Yüklenemezse yedek yazı tipi devreye girer: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"Roboto", sans-serif</a:t>
            </a:r>
            <a:endParaRPr lang="en-US" sz="1800" dirty="0"/>
          </a:p>
        </p:txBody>
      </p:sp>
      <p:sp>
        <p:nvSpPr>
          <p:cNvPr id="16" name="not"/>
          <p:cNvSpPr/>
          <p:nvPr/>
        </p:nvSpPr>
        <p:spPr>
          <a:xfrm>
            <a:off x="548640" y="44348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Neden önemli?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Her resim ve her yazı tipi, tarayıcının indirmesi gereken ek bir dosyadır. Tasarım kararı aynı zamanda hız kararıdır.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İLK WEB SİTEMİZ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HTML: sayfanın iskeleti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Creating the content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class="not"</a:t>
            </a:r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Merhaba</a:t>
            </a:r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4000" dirty="0"/>
          </a:p>
        </p:txBody>
      </p:sp>
      <p:sp>
        <p:nvSpPr>
          <p:cNvPr id="7" name="isaret"/>
          <p:cNvSpPr/>
          <p:nvPr/>
        </p:nvSpPr>
        <p:spPr>
          <a:xfrm>
            <a:off x="2132472" y="2532888"/>
            <a:ext cx="609539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66712" y="2606040"/>
            <a:ext cx="13410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Açılış</a:t>
            </a:r>
            <a:endParaRPr lang="en-US" sz="1400" dirty="0"/>
          </a:p>
        </p:txBody>
      </p:sp>
      <p:sp>
        <p:nvSpPr>
          <p:cNvPr id="9" name="isaret"/>
          <p:cNvSpPr/>
          <p:nvPr/>
        </p:nvSpPr>
        <p:spPr>
          <a:xfrm>
            <a:off x="3046781" y="2532888"/>
            <a:ext cx="3352465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1021" y="2606040"/>
            <a:ext cx="40839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Özellik (attribute)</a:t>
            </a:r>
            <a:endParaRPr lang="en-US" sz="1400" dirty="0"/>
          </a:p>
        </p:txBody>
      </p:sp>
      <p:sp>
        <p:nvSpPr>
          <p:cNvPr id="11" name="isaret"/>
          <p:cNvSpPr/>
          <p:nvPr/>
        </p:nvSpPr>
        <p:spPr>
          <a:xfrm>
            <a:off x="6704015" y="2532888"/>
            <a:ext cx="2133387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8255" y="2606040"/>
            <a:ext cx="2864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İçerik</a:t>
            </a:r>
            <a:endParaRPr lang="en-US" sz="1400" dirty="0"/>
          </a:p>
        </p:txBody>
      </p:sp>
      <p:sp>
        <p:nvSpPr>
          <p:cNvPr id="13" name="isaret"/>
          <p:cNvSpPr/>
          <p:nvPr/>
        </p:nvSpPr>
        <p:spPr>
          <a:xfrm>
            <a:off x="8837402" y="2532888"/>
            <a:ext cx="121907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1642" y="2606040"/>
            <a:ext cx="19505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Kapanış</a:t>
            </a:r>
            <a:endParaRPr lang="en-US" sz="1400" dirty="0"/>
          </a:p>
        </p:txBody>
      </p:sp>
      <p:sp>
        <p:nvSpPr>
          <p:cNvPr id="15" name="kart"/>
          <p:cNvSpPr/>
          <p:nvPr/>
        </p:nvSpPr>
        <p:spPr>
          <a:xfrm>
            <a:off x="548640" y="34290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557016"/>
            <a:ext cx="5111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&lt;head&gt;  =  zarfın üstü</a:t>
            </a:r>
            <a:endParaRPr lang="en-US" sz="1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Ekranda görünmez, tarayıcıya bilgi verir:</a:t>
            </a:r>
            <a:endParaRPr lang="en-US" sz="1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tx1"/>
                </a:solidFill>
              </a:rPr>
              <a:t>charset, viewport, title, CSS ve JS bağlantıları</a:t>
            </a:r>
            <a:endParaRPr lang="en-US" sz="1900" dirty="0"/>
          </a:p>
        </p:txBody>
      </p:sp>
      <p:sp>
        <p:nvSpPr>
          <p:cNvPr id="17" name="kart"/>
          <p:cNvSpPr/>
          <p:nvPr/>
        </p:nvSpPr>
        <p:spPr>
          <a:xfrm>
            <a:off x="6199632" y="3429000"/>
            <a:ext cx="544068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3557016"/>
            <a:ext cx="51114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&lt;body&gt;  =  mektubun kendisi</a:t>
            </a:r>
            <a:endParaRPr lang="en-US" sz="1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Ekranda görünen her şey:</a:t>
            </a:r>
            <a:endParaRPr lang="en-US" sz="1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&lt;h1&gt;, &lt;img alt="..."&gt;, &lt;p&gt;, &lt;ul&gt;/&lt;li&gt;, &lt;a href&gt;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TARAYICI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Tarayıcı HTML'i nasıl okur?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Creating the content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1497330" cy="1600200"/>
          </a:xfrm>
          <a:prstGeom prst="roundRect">
            <a:avLst>
              <a:gd name="adj" fmla="val 488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116814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Baytlar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Diskten veya ağdan gelen sayılar</a:t>
            </a:r>
            <a:endParaRPr lang="en-US" sz="1500" dirty="0"/>
          </a:p>
        </p:txBody>
      </p:sp>
      <p:sp>
        <p:nvSpPr>
          <p:cNvPr id="8" name="ok"/>
          <p:cNvSpPr/>
          <p:nvPr/>
        </p:nvSpPr>
        <p:spPr>
          <a:xfrm>
            <a:off x="2100834" y="2400300"/>
            <a:ext cx="21031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2366010" y="1600200"/>
            <a:ext cx="1497330" cy="1600200"/>
          </a:xfrm>
          <a:prstGeom prst="roundRect">
            <a:avLst>
              <a:gd name="adj" fmla="val 488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0602" y="1728216"/>
            <a:ext cx="116814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Karakterler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charset sayesinde: UTF-8</a:t>
            </a:r>
            <a:endParaRPr lang="en-US" sz="1500" dirty="0"/>
          </a:p>
        </p:txBody>
      </p:sp>
      <p:sp>
        <p:nvSpPr>
          <p:cNvPr id="11" name="ok"/>
          <p:cNvSpPr/>
          <p:nvPr/>
        </p:nvSpPr>
        <p:spPr>
          <a:xfrm>
            <a:off x="3918204" y="2400300"/>
            <a:ext cx="21031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kart"/>
          <p:cNvSpPr/>
          <p:nvPr/>
        </p:nvSpPr>
        <p:spPr>
          <a:xfrm>
            <a:off x="4183380" y="1600200"/>
            <a:ext cx="1497330" cy="1600200"/>
          </a:xfrm>
          <a:prstGeom prst="roundRect">
            <a:avLst>
              <a:gd name="adj" fmla="val 488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7972" y="1728216"/>
            <a:ext cx="116814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Etiketler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&lt;h1&gt;, &lt;p&gt;, &lt;img&gt; tanınır</a:t>
            </a:r>
            <a:endParaRPr lang="en-US" sz="1500" dirty="0"/>
          </a:p>
        </p:txBody>
      </p:sp>
      <p:sp>
        <p:nvSpPr>
          <p:cNvPr id="14" name="ok"/>
          <p:cNvSpPr/>
          <p:nvPr/>
        </p:nvSpPr>
        <p:spPr>
          <a:xfrm>
            <a:off x="5735574" y="2400300"/>
            <a:ext cx="21031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6000750" y="1600200"/>
            <a:ext cx="1497330" cy="1600200"/>
          </a:xfrm>
          <a:prstGeom prst="roundRect">
            <a:avLst>
              <a:gd name="adj" fmla="val 488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65342" y="1728216"/>
            <a:ext cx="116814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DOM ağacı</a:t>
            </a:r>
            <a:endParaRPr lang="en-US" sz="15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Bellekteki sayfa haritası</a:t>
            </a:r>
            <a:endParaRPr lang="en-US" sz="1500" dirty="0"/>
          </a:p>
        </p:txBody>
      </p:sp>
      <p:sp>
        <p:nvSpPr>
          <p:cNvPr id="17" name="dugum"/>
          <p:cNvSpPr/>
          <p:nvPr/>
        </p:nvSpPr>
        <p:spPr>
          <a:xfrm>
            <a:off x="9006840" y="1600200"/>
            <a:ext cx="105156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300" dirty="0"/>
          </a:p>
        </p:txBody>
      </p:sp>
      <p:sp>
        <p:nvSpPr>
          <p:cNvPr id="18" name="dugum"/>
          <p:cNvSpPr/>
          <p:nvPr/>
        </p:nvSpPr>
        <p:spPr>
          <a:xfrm>
            <a:off x="8046720" y="2286000"/>
            <a:ext cx="105156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300" dirty="0"/>
          </a:p>
        </p:txBody>
      </p:sp>
      <p:sp>
        <p:nvSpPr>
          <p:cNvPr id="19" name="dugum"/>
          <p:cNvSpPr/>
          <p:nvPr/>
        </p:nvSpPr>
        <p:spPr>
          <a:xfrm>
            <a:off x="9921240" y="2286000"/>
            <a:ext cx="105156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300" dirty="0"/>
          </a:p>
        </p:txBody>
      </p:sp>
      <p:sp>
        <p:nvSpPr>
          <p:cNvPr id="20" name="dal"/>
          <p:cNvSpPr/>
          <p:nvPr/>
        </p:nvSpPr>
        <p:spPr>
          <a:xfrm flipH="1">
            <a:off x="8572500" y="1984248"/>
            <a:ext cx="96012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1" name="dal"/>
          <p:cNvSpPr/>
          <p:nvPr/>
        </p:nvSpPr>
        <p:spPr>
          <a:xfrm>
            <a:off x="9532620" y="1984248"/>
            <a:ext cx="91440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dugum"/>
          <p:cNvSpPr/>
          <p:nvPr/>
        </p:nvSpPr>
        <p:spPr>
          <a:xfrm>
            <a:off x="9372600" y="2971800"/>
            <a:ext cx="64008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300" dirty="0"/>
          </a:p>
        </p:txBody>
      </p:sp>
      <p:sp>
        <p:nvSpPr>
          <p:cNvPr id="23" name="dugum"/>
          <p:cNvSpPr/>
          <p:nvPr/>
        </p:nvSpPr>
        <p:spPr>
          <a:xfrm>
            <a:off x="10149840" y="2971800"/>
            <a:ext cx="64008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300" dirty="0"/>
          </a:p>
        </p:txBody>
      </p:sp>
      <p:sp>
        <p:nvSpPr>
          <p:cNvPr id="24" name="dugum"/>
          <p:cNvSpPr/>
          <p:nvPr/>
        </p:nvSpPr>
        <p:spPr>
          <a:xfrm>
            <a:off x="10927080" y="2971800"/>
            <a:ext cx="640080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25" name="dal"/>
          <p:cNvSpPr/>
          <p:nvPr/>
        </p:nvSpPr>
        <p:spPr>
          <a:xfrm flipH="1">
            <a:off x="9692640" y="2670048"/>
            <a:ext cx="75438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6" name="dal"/>
          <p:cNvSpPr/>
          <p:nvPr/>
        </p:nvSpPr>
        <p:spPr>
          <a:xfrm>
            <a:off x="10447020" y="2670048"/>
            <a:ext cx="2286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7" name="dal"/>
          <p:cNvSpPr/>
          <p:nvPr/>
        </p:nvSpPr>
        <p:spPr>
          <a:xfrm>
            <a:off x="10447020" y="2670048"/>
            <a:ext cx="800100" cy="301752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8" name="kart"/>
          <p:cNvSpPr/>
          <p:nvPr/>
        </p:nvSpPr>
        <p:spPr>
          <a:xfrm>
            <a:off x="548640" y="3520440"/>
            <a:ext cx="544068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3648456"/>
            <a:ext cx="511149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HTML hata vermez, kendince düzeltir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&lt;head&gt; içine yanlışlıkla /* not */ yazdık.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Tarayıcı &lt;head&gt;'i orada kapattı ve notu sayfanın en üstüne bastı.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Doğrusu: &lt;!-- not --&gt;</a:t>
            </a:r>
            <a:endParaRPr lang="en-US" sz="1700" dirty="0"/>
          </a:p>
        </p:txBody>
      </p:sp>
      <p:sp>
        <p:nvSpPr>
          <p:cNvPr id="30" name="kart"/>
          <p:cNvSpPr/>
          <p:nvPr/>
        </p:nvSpPr>
        <p:spPr>
          <a:xfrm>
            <a:off x="6199632" y="3520440"/>
            <a:ext cx="544068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3648456"/>
            <a:ext cx="511149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&lt;!doctype html&gt; bir anahtardır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Yoksa tarayıcı eski siteler için uyumluluk moduna (Quirks Mode) geçer.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document.compatMode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CSS1Compat = standart  ·  BackCompat = Quirks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İLK WEB SİTEMİZ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CSS: görünüm ve kutu modeli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Styling the content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= seçici: hangi elementler?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color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= özellik: neyi değiştir?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red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 = değer: neye çevir?</a:t>
            </a:r>
            <a:endParaRPr lang="en-US" sz="1600" dirty="0"/>
          </a:p>
        </p:txBody>
      </p:sp>
      <p:sp>
        <p:nvSpPr>
          <p:cNvPr id="8" name="kutu"/>
          <p:cNvSpPr/>
          <p:nvPr/>
        </p:nvSpPr>
        <p:spPr>
          <a:xfrm>
            <a:off x="6035040" y="1554480"/>
            <a:ext cx="5605272" cy="2880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126480" y="1600200"/>
            <a:ext cx="5422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margin — duvardaki boşluk</a:t>
            </a:r>
            <a:endParaRPr lang="en-US" sz="1300" dirty="0"/>
          </a:p>
        </p:txBody>
      </p:sp>
      <p:sp>
        <p:nvSpPr>
          <p:cNvPr id="10" name="kutu"/>
          <p:cNvSpPr/>
          <p:nvPr/>
        </p:nvSpPr>
        <p:spPr>
          <a:xfrm>
            <a:off x="6446520" y="1965960"/>
            <a:ext cx="4782312" cy="2057400"/>
          </a:xfrm>
          <a:prstGeom prst="rect">
            <a:avLst/>
          </a:prstGeom>
          <a:solidFill>
            <a:srgbClr val="FFF4DB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border — çerçeve</a:t>
            </a:r>
            <a:endParaRPr lang="en-US" sz="1300" dirty="0"/>
          </a:p>
        </p:txBody>
      </p:sp>
      <p:sp>
        <p:nvSpPr>
          <p:cNvPr id="12" name="kutu"/>
          <p:cNvSpPr/>
          <p:nvPr/>
        </p:nvSpPr>
        <p:spPr>
          <a:xfrm>
            <a:off x="6812280" y="2331720"/>
            <a:ext cx="4050792" cy="1325880"/>
          </a:xfrm>
          <a:prstGeom prst="rect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237744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padding — paspartu</a:t>
            </a:r>
            <a:endParaRPr lang="en-US" sz="1300" dirty="0"/>
          </a:p>
        </p:txBody>
      </p:sp>
      <p:sp>
        <p:nvSpPr>
          <p:cNvPr id="14" name="icerik"/>
          <p:cNvSpPr/>
          <p:nvPr/>
        </p:nvSpPr>
        <p:spPr>
          <a:xfrm>
            <a:off x="7498080" y="2743200"/>
            <a:ext cx="2679192" cy="685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content — tablo</a:t>
            </a:r>
            <a:endParaRPr lang="en-US" sz="1500" dirty="0"/>
          </a:p>
        </p:txBody>
      </p:sp>
      <p:sp>
        <p:nvSpPr>
          <p:cNvPr id="15" name="not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76200" tIns="177800" rIns="1778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600px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telefonda taşar.     </a:t>
            </a:r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max-width: 600px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"en fazla 600" der, ekran daralınca kutu da daralır.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İLK WEB SİTEMİZ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JavaScript: sayfaya davranış kazandırmak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Adding interactivity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2464308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21351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Tıklama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Kullanıcı resme tıklar</a:t>
            </a:r>
            <a:endParaRPr lang="en-US" sz="1700" dirty="0"/>
          </a:p>
        </p:txBody>
      </p:sp>
      <p:sp>
        <p:nvSpPr>
          <p:cNvPr id="8" name="ok"/>
          <p:cNvSpPr/>
          <p:nvPr/>
        </p:nvSpPr>
        <p:spPr>
          <a:xfrm>
            <a:off x="3067812" y="2446020"/>
            <a:ext cx="30175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3424428" y="1600200"/>
            <a:ext cx="2464308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9020" y="1728216"/>
            <a:ext cx="21351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Dinleyici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("click")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olayı yakalar</a:t>
            </a:r>
            <a:endParaRPr lang="en-US" sz="1700" dirty="0"/>
          </a:p>
        </p:txBody>
      </p:sp>
      <p:sp>
        <p:nvSpPr>
          <p:cNvPr id="11" name="ok"/>
          <p:cNvSpPr/>
          <p:nvPr/>
        </p:nvSpPr>
        <p:spPr>
          <a:xfrm>
            <a:off x="5943600" y="2446020"/>
            <a:ext cx="30175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kart"/>
          <p:cNvSpPr/>
          <p:nvPr/>
        </p:nvSpPr>
        <p:spPr>
          <a:xfrm>
            <a:off x="6300216" y="1600200"/>
            <a:ext cx="2464308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728216"/>
            <a:ext cx="21351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Fonksiyon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src değerini öbür resimle değiştirir</a:t>
            </a:r>
            <a:endParaRPr lang="en-US" sz="1700" dirty="0"/>
          </a:p>
        </p:txBody>
      </p:sp>
      <p:sp>
        <p:nvSpPr>
          <p:cNvPr id="14" name="ok"/>
          <p:cNvSpPr/>
          <p:nvPr/>
        </p:nvSpPr>
        <p:spPr>
          <a:xfrm>
            <a:off x="8819388" y="2446020"/>
            <a:ext cx="30175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9176004" y="1600200"/>
            <a:ext cx="2464308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40596" y="1728216"/>
            <a:ext cx="21351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DOM güncellenir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Resim değişir, sayfa yenilenmez</a:t>
            </a:r>
            <a:endParaRPr lang="en-US" sz="1700" dirty="0"/>
          </a:p>
        </p:txBody>
      </p:sp>
      <p:sp>
        <p:nvSpPr>
          <p:cNvPr id="17" name="kart"/>
          <p:cNvSpPr/>
          <p:nvPr/>
        </p:nvSpPr>
        <p:spPr>
          <a:xfrm>
            <a:off x="548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694176"/>
            <a:ext cx="51114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Kişisel karşılama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prompt() ile adı sorar.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localStorage ile saklar: sayfa kapansa da hatırlar.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Sonraki ziyarette: "Hoş geldiniz, Serhat"</a:t>
            </a:r>
            <a:endParaRPr lang="en-US" sz="1800" dirty="0"/>
          </a:p>
        </p:txBody>
      </p:sp>
      <p:sp>
        <p:nvSpPr>
          <p:cNvPr id="19" name="kart"/>
          <p:cNvSpPr/>
          <p:nvPr/>
        </p:nvSpPr>
        <p:spPr>
          <a:xfrm>
            <a:off x="6199632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3694176"/>
            <a:ext cx="51114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Bizim iki küçük iyileştirmemiz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JS, HTML tamamen okunduktan sonra çalışır.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8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İptal'e basılınca pencere tekrar tekrar açılmaz.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İLK WEB SİTEMİZ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56692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Siteyi yayına almak: GitHub Pages</a:t>
            </a:r>
            <a:endParaRPr lang="en-US" sz="3000" dirty="0"/>
          </a:p>
        </p:txBody>
      </p:sp>
      <p:sp>
        <p:nvSpPr>
          <p:cNvPr id="4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Anlatan: Samet</a:t>
            </a:r>
            <a:endParaRPr lang="en-US" sz="1200" dirty="0"/>
          </a:p>
        </p:txBody>
      </p:sp>
      <p:sp>
        <p:nvSpPr>
          <p:cNvPr id="5" name="kaynak"/>
          <p:cNvSpPr txBox="1"/>
          <p:nvPr/>
        </p:nvSpPr>
        <p:spPr>
          <a:xfrm>
            <a:off x="2743200" y="6400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Kaynak: MDN · Publishing your website</a:t>
            </a:r>
            <a:endParaRPr lang="en-US" sz="1000" dirty="0"/>
          </a:p>
        </p:txBody>
      </p:sp>
      <p:sp>
        <p:nvSpPr>
          <p:cNvPr id="6" name="kart"/>
          <p:cNvSpPr/>
          <p:nvPr/>
        </p:nvSpPr>
        <p:spPr>
          <a:xfrm>
            <a:off x="548640" y="1600200"/>
            <a:ext cx="251231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21831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Bilgisayardaki klasör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first-website/</a:t>
            </a:r>
            <a:endParaRPr lang="en-US" sz="1600" dirty="0"/>
          </a:p>
        </p:txBody>
      </p:sp>
      <p:sp>
        <p:nvSpPr>
          <p:cNvPr id="8" name="ok"/>
          <p:cNvSpPr/>
          <p:nvPr/>
        </p:nvSpPr>
        <p:spPr>
          <a:xfrm>
            <a:off x="3115818" y="23317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kart"/>
          <p:cNvSpPr/>
          <p:nvPr/>
        </p:nvSpPr>
        <p:spPr>
          <a:xfrm>
            <a:off x="3408426" y="1600200"/>
            <a:ext cx="251231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3018" y="1728216"/>
            <a:ext cx="21831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GitHub deposu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kullanıcıadı.github.io</a:t>
            </a:r>
            <a:endParaRPr lang="en-US" sz="1600" dirty="0"/>
          </a:p>
        </p:txBody>
      </p:sp>
      <p:sp>
        <p:nvSpPr>
          <p:cNvPr id="11" name="ok"/>
          <p:cNvSpPr/>
          <p:nvPr/>
        </p:nvSpPr>
        <p:spPr>
          <a:xfrm>
            <a:off x="5975604" y="23317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kart"/>
          <p:cNvSpPr/>
          <p:nvPr/>
        </p:nvSpPr>
        <p:spPr>
          <a:xfrm>
            <a:off x="6268212" y="1600200"/>
            <a:ext cx="251231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2804" y="1728216"/>
            <a:ext cx="21831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GitHub sunucuları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tx1"/>
                </a:solidFill>
              </a:rPr>
              <a:t>Siteyi kendiliğinden yayınlar</a:t>
            </a:r>
            <a:endParaRPr lang="en-US" sz="1600" dirty="0"/>
          </a:p>
        </p:txBody>
      </p:sp>
      <p:sp>
        <p:nvSpPr>
          <p:cNvPr id="14" name="ok"/>
          <p:cNvSpPr/>
          <p:nvPr/>
        </p:nvSpPr>
        <p:spPr>
          <a:xfrm>
            <a:off x="8835390" y="2331720"/>
            <a:ext cx="23774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kart"/>
          <p:cNvSpPr/>
          <p:nvPr/>
        </p:nvSpPr>
        <p:spPr>
          <a:xfrm>
            <a:off x="9127998" y="1600200"/>
            <a:ext cx="251231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1728216"/>
            <a:ext cx="21831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 Herkesin adresi</a:t>
            </a:r>
            <a:endParaRPr lang="en-US" sz="16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serhat-92.github.io</a:t>
            </a:r>
            <a:endParaRPr lang="en-US" sz="1600" dirty="0"/>
          </a:p>
        </p:txBody>
      </p:sp>
      <p:sp>
        <p:nvSpPr>
          <p:cNvPr id="17" name="kart"/>
          <p:cNvSpPr/>
          <p:nvPr/>
        </p:nvSpPr>
        <p:spPr>
          <a:xfrm>
            <a:off x="548640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511296"/>
            <a:ext cx="31912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Depo adı kuralı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Depo adı kullanıcıadı.github.io olunca GitHub onu bir web sitesi olarak yayınlar.</a:t>
            </a:r>
            <a:endParaRPr lang="en-US" sz="1700" dirty="0"/>
          </a:p>
        </p:txBody>
      </p:sp>
      <p:sp>
        <p:nvSpPr>
          <p:cNvPr id="19" name="kart"/>
          <p:cNvSpPr/>
          <p:nvPr/>
        </p:nvSpPr>
        <p:spPr>
          <a:xfrm>
            <a:off x="4334256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8848" y="3511296"/>
            <a:ext cx="31912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HTTPS hazır gelir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Trafik şifrelenir. Araya giren biri içeriği okuyamaz veya değiştiremez.</a:t>
            </a:r>
            <a:endParaRPr lang="en-US" sz="1700" dirty="0"/>
          </a:p>
        </p:txBody>
      </p:sp>
      <p:sp>
        <p:nvSpPr>
          <p:cNvPr id="21" name="kart"/>
          <p:cNvSpPr/>
          <p:nvPr/>
        </p:nvSpPr>
        <p:spPr>
          <a:xfrm>
            <a:off x="8119872" y="338328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3511296"/>
            <a:ext cx="31912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Yerelde çalışan bozulabilir</a:t>
            </a:r>
            <a:endParaRPr lang="en-US" sz="17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Büyük/küçük harf farkı ve büyük dosyalar yayında ortaya çıkar.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KAPANIŞ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1600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Şimdi laboratuvara geçiyoruz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HTML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sayfanın iskeleti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CSS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sayfanın görünümü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JavaScript  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sayfanın davranışı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54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Laboratuvar: canlı kod ve soru-cevap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2D1"/>
                </a:solidFill>
              </a:rPr>
              <a:t>Yusuf Serhat Tümtürk  ·  serhat-92.github.io</a:t>
            </a:r>
            <a:endParaRPr lang="en-US" sz="1600" dirty="0"/>
          </a:p>
        </p:txBody>
      </p:sp>
      <p:sp>
        <p:nvSpPr>
          <p:cNvPr id="8" name="anlatan"/>
          <p:cNvSpPr/>
          <p:nvPr/>
        </p:nvSpPr>
        <p:spPr>
          <a:xfrm>
            <a:off x="10012680" y="329184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Anlatan: Orkun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cak">
  <a:themeElements>
    <a:clrScheme name="Sancak">
      <a:dk1>
        <a:srgbClr val="0D1C33"/>
      </a:dk1>
      <a:lt1>
        <a:srgbClr val="FFFFFF"/>
      </a:lt1>
      <a:dk2>
        <a:srgbClr val="5D6E83"/>
      </a:dk2>
      <a:lt2>
        <a:srgbClr val="F8FAFD"/>
      </a:lt2>
      <a:accent1>
        <a:srgbClr val="265EA1"/>
      </a:accent1>
      <a:accent2>
        <a:srgbClr val="1B899B"/>
      </a:accent2>
      <a:accent3>
        <a:srgbClr val="EBB74D"/>
      </a:accent3>
      <a:accent4>
        <a:srgbClr val="C0392B"/>
      </a:accent4>
      <a:accent5>
        <a:srgbClr val="2E8B57"/>
      </a:accent5>
      <a:accent6>
        <a:srgbClr val="E4EBF4"/>
      </a:accent6>
      <a:hlink>
        <a:srgbClr val="265EA1"/>
      </a:hlink>
      <a:folHlink>
        <a:srgbClr val="1B899B"/>
      </a:folHlink>
    </a:clrScheme>
    <a:fontScheme name="Sanca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Faz 1 - Sınıf Sunumu (Sancak)</dc:title>
  <dc:subject>PptxGenJS Presentation</dc:subject>
  <dc:creator>Samet Demir</dc:creator>
  <cp:lastModifiedBy>Samet Demir</cp:lastModifiedBy>
  <cp:revision>1</cp:revision>
  <dcterms:created xsi:type="dcterms:W3CDTF">2026-10-03T16:53:48Z</dcterms:created>
  <dcterms:modified xsi:type="dcterms:W3CDTF">2026-10-03T16:53:48Z</dcterms:modified>
</cp:coreProperties>
</file>